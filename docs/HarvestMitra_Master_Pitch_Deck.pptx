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(Mihir): Welcome esteemed judges. We are presenting HarvestMitra AI. In India, over 140 million farmers produce food for 1.4 billion people, yet struggle with price exploitation, lack of market visibility, and extreme middleman dependency. We built HarvestMitra AI as an enterprise-grade digital solution.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097280"/>
            <a:ext cx="6217920" cy="365760"/>
          </a:xfrm>
          <a:prstGeom prst="rect">
            <a:avLst/>
          </a:prstGeom>
          <a:noFill/>
        </p:spPr>
        <p:txBody>
          <a:bodyPr wrap="none">
            <a:spAutoFit/>
          </a:bodyPr>
          <a:lstStyle/>
          <a:p>
            <a:pPr>
              <a:defRPr sz="1100" b="1">
                <a:solidFill>
                  <a:srgbClr val="F59E0B"/>
                </a:solidFill>
              </a:defRPr>
            </a:pPr>
            <a:r>
              <a:t>NATIONAL AGRI-TECH HACKATHON 2026 • PRODUCTION SHOWCASE</a:t>
            </a:r>
          </a:p>
        </p:txBody>
      </p:sp>
      <p:sp>
        <p:nvSpPr>
          <p:cNvPr id="4" name="TextBox 3"/>
          <p:cNvSpPr txBox="1"/>
          <p:nvPr/>
        </p:nvSpPr>
        <p:spPr>
          <a:xfrm>
            <a:off x="731520" y="1463040"/>
            <a:ext cx="6217920" cy="1645920"/>
          </a:xfrm>
          <a:prstGeom prst="rect">
            <a:avLst/>
          </a:prstGeom>
          <a:noFill/>
        </p:spPr>
        <p:txBody>
          <a:bodyPr wrap="square">
            <a:spAutoFit/>
          </a:bodyPr>
          <a:lstStyle/>
          <a:p>
            <a:pPr>
              <a:defRPr sz="4600" b="1">
                <a:solidFill>
                  <a:srgbClr val="FFFFFF"/>
                </a:solidFill>
              </a:defRPr>
            </a:pPr>
            <a:r>
              <a:t>HarvestMitra AI</a:t>
            </a:r>
          </a:p>
          <a:p>
            <a:pPr>
              <a:spcBef>
                <a:spcPts val="800"/>
              </a:spcBef>
              <a:defRPr sz="1800">
                <a:solidFill>
                  <a:srgbClr val="34D399"/>
                </a:solidFill>
              </a:defRPr>
            </a:pPr>
            <a:r>
              <a:t>Intelligent APMC Mandi Arbitrage, Profit Simulation &amp; Farm Cold-Chain Logistics</a:t>
            </a:r>
          </a:p>
        </p:txBody>
      </p:sp>
      <p:sp>
        <p:nvSpPr>
          <p:cNvPr id="5" name="TextBox 4"/>
          <p:cNvSpPr txBox="1"/>
          <p:nvPr/>
        </p:nvSpPr>
        <p:spPr>
          <a:xfrm>
            <a:off x="731520" y="3291840"/>
            <a:ext cx="5943600" cy="1371600"/>
          </a:xfrm>
          <a:prstGeom prst="rect">
            <a:avLst/>
          </a:prstGeom>
          <a:noFill/>
        </p:spPr>
        <p:txBody>
          <a:bodyPr wrap="square">
            <a:spAutoFit/>
          </a:bodyPr>
          <a:lstStyle/>
          <a:p>
            <a:pPr>
              <a:defRPr sz="1300">
                <a:solidFill>
                  <a:srgbClr val="94A3B8"/>
                </a:solidFill>
              </a:defRPr>
            </a:pPr>
            <a:r>
              <a:t>An end-to-end full-stack AI ecosystem empowering 140M+ Indian farmers to overcome mandi cartels, simulate factual net revenue across mandis, eliminate middleman exploitation, and book on-demand refrigerated dispatch.</a:t>
            </a:r>
          </a:p>
        </p:txBody>
      </p:sp>
      <p:sp>
        <p:nvSpPr>
          <p:cNvPr id="6" name="Rounded Rectangle 5"/>
          <p:cNvSpPr/>
          <p:nvPr/>
        </p:nvSpPr>
        <p:spPr>
          <a:xfrm>
            <a:off x="731520" y="4846320"/>
            <a:ext cx="5943600" cy="1371600"/>
          </a:xfrm>
          <a:prstGeom prst="roundRect">
            <a:avLst/>
          </a:prstGeom>
          <a:solidFill>
            <a:srgbClr val="131E3A"/>
          </a:solidFill>
          <a:ln>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000">
                <a:solidFill>
                  <a:srgbClr val="F59E0B"/>
                </a:solidFill>
              </a:defRPr>
            </a:pPr>
            <a:r>
              <a:t>PROJECT ARCHITECTS &amp; ENGINEERING SQUAD:</a:t>
            </a:r>
          </a:p>
          <a:p>
            <a:pPr>
              <a:spcBef>
                <a:spcPts val="400"/>
              </a:spcBef>
              <a:defRPr sz="1000">
                <a:solidFill>
                  <a:srgbClr val="FFFFFF"/>
                </a:solidFill>
              </a:defRPr>
            </a:pPr>
            <a:r>
              <a:t>• Mihir Jadav: System Architect, Unified Backend API &amp; Security Enforcement</a:t>
            </a:r>
            <a:br/>
            <a:r>
              <a:t>• Sayali: UI/UX System &amp; Multilingual Farmer Accessibility</a:t>
            </a:r>
            <a:br/>
            <a:r>
              <a:t>• Prashant Warule: Mandi Auto-Sync Engine &amp; Financial Profit Simulator</a:t>
            </a:r>
            <a:br/>
            <a:r>
              <a:t>• Varun Patil: Transport Optimization &amp; Live Weather Radar Telemetry</a:t>
            </a:r>
          </a:p>
        </p:txBody>
      </p:sp>
      <p:pic>
        <p:nvPicPr>
          <p:cNvPr id="7" name="Picture 6" descr="hero.jpg"/>
          <p:cNvPicPr>
            <a:picLocks noChangeAspect="1"/>
          </p:cNvPicPr>
          <p:nvPr/>
        </p:nvPicPr>
        <p:blipFill>
          <a:blip r:embed="rId2"/>
          <a:stretch>
            <a:fillRect/>
          </a:stretch>
        </p:blipFill>
        <p:spPr>
          <a:xfrm>
            <a:off x="6949440" y="1097280"/>
            <a:ext cx="4572000" cy="512064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7315200" cy="365760"/>
          </a:xfrm>
          <a:prstGeom prst="rect">
            <a:avLst/>
          </a:prstGeom>
          <a:noFill/>
        </p:spPr>
        <p:txBody>
          <a:bodyPr wrap="square">
            <a:spAutoFit/>
          </a:bodyPr>
          <a:lstStyle/>
          <a:p>
            <a:pPr>
              <a:defRPr sz="1100" b="1">
                <a:solidFill>
                  <a:srgbClr val="34D399"/>
                </a:solidFill>
              </a:defRPr>
            </a:pPr>
            <a:r>
              <a:t>THE CRISIS IN INDIAN AGRICULTURE</a:t>
            </a:r>
          </a:p>
        </p:txBody>
      </p:sp>
      <p:sp>
        <p:nvSpPr>
          <p:cNvPr id="4" name="TextBox 3"/>
          <p:cNvSpPr txBox="1"/>
          <p:nvPr/>
        </p:nvSpPr>
        <p:spPr>
          <a:xfrm>
            <a:off x="731520" y="777240"/>
            <a:ext cx="10515600" cy="731520"/>
          </a:xfrm>
          <a:prstGeom prst="rect">
            <a:avLst/>
          </a:prstGeom>
          <a:noFill/>
        </p:spPr>
        <p:txBody>
          <a:bodyPr wrap="square">
            <a:spAutoFit/>
          </a:bodyPr>
          <a:lstStyle/>
          <a:p>
            <a:pPr>
              <a:defRPr sz="2800" b="1">
                <a:solidFill>
                  <a:srgbClr val="FFFFFF"/>
                </a:solidFill>
              </a:defRPr>
            </a:pPr>
            <a:r>
              <a:t>The Systemic Bottlenecks Facing 140M+ Farmers</a:t>
            </a:r>
          </a:p>
        </p:txBody>
      </p:sp>
      <p:sp>
        <p:nvSpPr>
          <p:cNvPr id="5" name="TextBox 4"/>
          <p:cNvSpPr txBox="1"/>
          <p:nvPr/>
        </p:nvSpPr>
        <p:spPr>
          <a:xfrm>
            <a:off x="731520" y="1463040"/>
            <a:ext cx="10515600" cy="457200"/>
          </a:xfrm>
          <a:prstGeom prst="rect">
            <a:avLst/>
          </a:prstGeom>
          <a:noFill/>
        </p:spPr>
        <p:txBody>
          <a:bodyPr wrap="square">
            <a:spAutoFit/>
          </a:bodyPr>
          <a:lstStyle/>
          <a:p>
            <a:pPr>
              <a:defRPr sz="1400">
                <a:solidFill>
                  <a:srgbClr val="94A3B8"/>
                </a:solidFill>
              </a:defRPr>
            </a:pPr>
            <a:r>
              <a:t>Market opacity and fragmented logistics cost Indian farmers billions of rupees every season.</a:t>
            </a:r>
          </a:p>
        </p:txBody>
      </p:sp>
      <p:sp>
        <p:nvSpPr>
          <p:cNvPr id="6" name="Rounded Rectangle 5"/>
          <p:cNvSpPr/>
          <p:nvPr/>
        </p:nvSpPr>
        <p:spPr>
          <a:xfrm>
            <a:off x="731520" y="2103120"/>
            <a:ext cx="2560320" cy="4114800"/>
          </a:xfrm>
          <a:prstGeom prst="roundRect">
            <a:avLst/>
          </a:prstGeom>
          <a:solidFill>
            <a:srgbClr val="131E3A"/>
          </a:solidFill>
          <a:ln>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200" b="1">
                <a:solidFill>
                  <a:srgbClr val="F59E0B"/>
                </a:solidFill>
              </a:defRPr>
            </a:pPr>
            <a:r>
              <a:t>₹50,000+ Crore</a:t>
            </a:r>
          </a:p>
          <a:p>
            <a:pPr>
              <a:spcBef>
                <a:spcPts val="1000"/>
              </a:spcBef>
              <a:defRPr sz="1400" b="1">
                <a:solidFill>
                  <a:srgbClr val="FFFFFF"/>
                </a:solidFill>
              </a:defRPr>
            </a:pPr>
            <a:r>
              <a:t>Annual Post-Harvest Loss</a:t>
            </a:r>
          </a:p>
          <a:p>
            <a:pPr>
              <a:spcBef>
                <a:spcPts val="800"/>
              </a:spcBef>
              <a:defRPr sz="1100">
                <a:solidFill>
                  <a:srgbClr val="94A3B8"/>
                </a:solidFill>
              </a:defRPr>
            </a:pPr>
            <a:r>
              <a:t>Perishable crops like tomatoes and onions spoil due to lack of immediate cold transport and delayed market dispatch.</a:t>
            </a:r>
          </a:p>
        </p:txBody>
      </p:sp>
      <p:sp>
        <p:nvSpPr>
          <p:cNvPr id="7" name="Rounded Rectangle 6"/>
          <p:cNvSpPr/>
          <p:nvPr/>
        </p:nvSpPr>
        <p:spPr>
          <a:xfrm>
            <a:off x="3429000" y="2103120"/>
            <a:ext cx="2560320" cy="4114800"/>
          </a:xfrm>
          <a:prstGeom prst="roundRect">
            <a:avLst/>
          </a:prstGeom>
          <a:solidFill>
            <a:srgbClr val="131E3A"/>
          </a:solidFill>
          <a:ln>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200" b="1">
                <a:solidFill>
                  <a:srgbClr val="EF4444"/>
                </a:solidFill>
              </a:defRPr>
            </a:pPr>
            <a:r>
              <a:t>35% - 50%</a:t>
            </a:r>
          </a:p>
          <a:p>
            <a:pPr>
              <a:spcBef>
                <a:spcPts val="1000"/>
              </a:spcBef>
              <a:defRPr sz="1400" b="1">
                <a:solidFill>
                  <a:srgbClr val="FFFFFF"/>
                </a:solidFill>
              </a:defRPr>
            </a:pPr>
            <a:r>
              <a:t>Middleman Commission Leakage</a:t>
            </a:r>
          </a:p>
          <a:p>
            <a:pPr>
              <a:spcBef>
                <a:spcPts val="800"/>
              </a:spcBef>
              <a:defRPr sz="1100">
                <a:solidFill>
                  <a:srgbClr val="94A3B8"/>
                </a:solidFill>
              </a:defRPr>
            </a:pPr>
            <a:r>
              <a:t>Traditional APMC commission agents (arhatiyas) exploit farmers with non-transparent price manipulation and arbitrary fee cuts.</a:t>
            </a:r>
          </a:p>
        </p:txBody>
      </p:sp>
      <p:sp>
        <p:nvSpPr>
          <p:cNvPr id="8" name="Rounded Rectangle 7"/>
          <p:cNvSpPr/>
          <p:nvPr/>
        </p:nvSpPr>
        <p:spPr>
          <a:xfrm>
            <a:off x="6126480" y="2103120"/>
            <a:ext cx="2560320" cy="4114800"/>
          </a:xfrm>
          <a:prstGeom prst="roundRect">
            <a:avLst/>
          </a:prstGeom>
          <a:solidFill>
            <a:srgbClr val="131E3A"/>
          </a:solidFill>
          <a:ln>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200" b="1">
                <a:solidFill>
                  <a:srgbClr val="34D399"/>
                </a:solidFill>
              </a:defRPr>
            </a:pPr>
            <a:r>
              <a:t>Zero Visibility</a:t>
            </a:r>
          </a:p>
          <a:p>
            <a:pPr>
              <a:spcBef>
                <a:spcPts val="1000"/>
              </a:spcBef>
              <a:defRPr sz="1400" b="1">
                <a:solidFill>
                  <a:srgbClr val="FFFFFF"/>
                </a:solidFill>
              </a:defRPr>
            </a:pPr>
            <a:r>
              <a:t>Inter-Mandi Price Asymmetry</a:t>
            </a:r>
          </a:p>
          <a:p>
            <a:pPr>
              <a:spcBef>
                <a:spcPts val="800"/>
              </a:spcBef>
              <a:defRPr sz="1100">
                <a:solidFill>
                  <a:srgbClr val="94A3B8"/>
                </a:solidFill>
              </a:defRPr>
            </a:pPr>
            <a:r>
              <a:t>A mandi just 45 km away may offer ₹800/Qtl higher rates, but farmers lack real-time price comparison and verifiable transport cost models.</a:t>
            </a:r>
          </a:p>
        </p:txBody>
      </p:sp>
      <p:sp>
        <p:nvSpPr>
          <p:cNvPr id="9" name="Rounded Rectangle 8"/>
          <p:cNvSpPr/>
          <p:nvPr/>
        </p:nvSpPr>
        <p:spPr>
          <a:xfrm>
            <a:off x="8823960" y="2103120"/>
            <a:ext cx="2560320" cy="4114800"/>
          </a:xfrm>
          <a:prstGeom prst="roundRect">
            <a:avLst/>
          </a:prstGeom>
          <a:solidFill>
            <a:srgbClr val="131E3A"/>
          </a:solidFill>
          <a:ln>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200" b="1">
                <a:solidFill>
                  <a:srgbClr val="FFFFFF"/>
                </a:solidFill>
              </a:defRPr>
            </a:pPr>
            <a:r>
              <a:t>High Tech Barrier</a:t>
            </a:r>
          </a:p>
          <a:p>
            <a:pPr>
              <a:spcBef>
                <a:spcPts val="1000"/>
              </a:spcBef>
              <a:defRPr sz="1400" b="1">
                <a:solidFill>
                  <a:srgbClr val="FFFFFF"/>
                </a:solidFill>
              </a:defRPr>
            </a:pPr>
            <a:r>
              <a:t>Language &amp; Digital Literacy</a:t>
            </a:r>
          </a:p>
          <a:p>
            <a:pPr>
              <a:spcBef>
                <a:spcPts val="800"/>
              </a:spcBef>
              <a:defRPr sz="1100">
                <a:solidFill>
                  <a:srgbClr val="94A3B8"/>
                </a:solidFill>
              </a:defRPr>
            </a:pPr>
            <a:r>
              <a:t>Most platforms are in English and complex. Smallholder farmers need vernacular voice AI, simple visual cards, and zero learning curve.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7315200" cy="365760"/>
          </a:xfrm>
          <a:prstGeom prst="rect">
            <a:avLst/>
          </a:prstGeom>
          <a:noFill/>
        </p:spPr>
        <p:txBody>
          <a:bodyPr wrap="square">
            <a:spAutoFit/>
          </a:bodyPr>
          <a:lstStyle/>
          <a:p>
            <a:pPr>
              <a:defRPr sz="1100" b="1">
                <a:solidFill>
                  <a:srgbClr val="34D399"/>
                </a:solidFill>
              </a:defRPr>
            </a:pPr>
            <a:r>
              <a:t>OUR INNOVATION</a:t>
            </a:r>
          </a:p>
        </p:txBody>
      </p:sp>
      <p:sp>
        <p:nvSpPr>
          <p:cNvPr id="4" name="TextBox 3"/>
          <p:cNvSpPr txBox="1"/>
          <p:nvPr/>
        </p:nvSpPr>
        <p:spPr>
          <a:xfrm>
            <a:off x="731520" y="777240"/>
            <a:ext cx="10515600" cy="731520"/>
          </a:xfrm>
          <a:prstGeom prst="rect">
            <a:avLst/>
          </a:prstGeom>
          <a:noFill/>
        </p:spPr>
        <p:txBody>
          <a:bodyPr wrap="square">
            <a:spAutoFit/>
          </a:bodyPr>
          <a:lstStyle/>
          <a:p>
            <a:pPr>
              <a:defRPr sz="2800" b="1">
                <a:solidFill>
                  <a:srgbClr val="FFFFFF"/>
                </a:solidFill>
              </a:defRPr>
            </a:pPr>
            <a:r>
              <a:t>The HarvestMitra 4-Pillar AI Architecture</a:t>
            </a:r>
          </a:p>
        </p:txBody>
      </p:sp>
      <p:sp>
        <p:nvSpPr>
          <p:cNvPr id="5" name="TextBox 4"/>
          <p:cNvSpPr txBox="1"/>
          <p:nvPr/>
        </p:nvSpPr>
        <p:spPr>
          <a:xfrm>
            <a:off x="731520" y="1463040"/>
            <a:ext cx="10515600" cy="457200"/>
          </a:xfrm>
          <a:prstGeom prst="rect">
            <a:avLst/>
          </a:prstGeom>
          <a:noFill/>
        </p:spPr>
        <p:txBody>
          <a:bodyPr wrap="square">
            <a:spAutoFit/>
          </a:bodyPr>
          <a:lstStyle/>
          <a:p>
            <a:pPr>
              <a:defRPr sz="1400">
                <a:solidFill>
                  <a:srgbClr val="94A3B8"/>
                </a:solidFill>
              </a:defRPr>
            </a:pPr>
            <a:r>
              <a:t>A unified operational framework engineered to address every stage from farm harvest to mandi payment.</a:t>
            </a:r>
          </a:p>
        </p:txBody>
      </p:sp>
      <p:sp>
        <p:nvSpPr>
          <p:cNvPr id="6" name="Rounded Rectangle 5"/>
          <p:cNvSpPr/>
          <p:nvPr/>
        </p:nvSpPr>
        <p:spPr>
          <a:xfrm>
            <a:off x="731520" y="2103120"/>
            <a:ext cx="5212080" cy="1920240"/>
          </a:xfrm>
          <a:prstGeom prst="roundRect">
            <a:avLst/>
          </a:prstGeom>
          <a:solidFill>
            <a:srgbClr val="131E3A"/>
          </a:solidFill>
          <a:ln>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34D399"/>
                </a:solidFill>
              </a:defRPr>
            </a:pPr>
            <a:r>
              <a:t>1. Live APMC Auto-Sync</a:t>
            </a:r>
          </a:p>
          <a:p>
            <a:pPr>
              <a:spcBef>
                <a:spcPts val="400"/>
              </a:spcBef>
              <a:defRPr sz="1200" b="1">
                <a:solidFill>
                  <a:srgbClr val="FFFFFF"/>
                </a:solidFill>
              </a:defRPr>
            </a:pPr>
            <a:r>
              <a:t>50+ Mandis Real-Time Ingestion</a:t>
            </a:r>
          </a:p>
          <a:p>
            <a:pPr>
              <a:spcBef>
                <a:spcPts val="600"/>
              </a:spcBef>
              <a:defRPr sz="1100">
                <a:solidFill>
                  <a:srgbClr val="94A3B8"/>
                </a:solidFill>
              </a:defRPr>
            </a:pPr>
            <a:r>
              <a:t>Automated background synchronization engine capturing 4,500+ verified mandi rates across Maharashtra with SMA-3 &amp; SMA-7 moving averages.</a:t>
            </a:r>
          </a:p>
        </p:txBody>
      </p:sp>
      <p:sp>
        <p:nvSpPr>
          <p:cNvPr id="7" name="Rounded Rectangle 6"/>
          <p:cNvSpPr/>
          <p:nvPr/>
        </p:nvSpPr>
        <p:spPr>
          <a:xfrm>
            <a:off x="6126480" y="2103120"/>
            <a:ext cx="5212080" cy="1920240"/>
          </a:xfrm>
          <a:prstGeom prst="roundRect">
            <a:avLst/>
          </a:prstGeom>
          <a:solidFill>
            <a:srgbClr val="131E3A"/>
          </a:solidFill>
          <a:ln>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F59E0B"/>
                </a:solidFill>
              </a:defRPr>
            </a:pPr>
            <a:r>
              <a:t>2. Precision Profit Simulator</a:t>
            </a:r>
          </a:p>
          <a:p>
            <a:pPr>
              <a:spcBef>
                <a:spcPts val="400"/>
              </a:spcBef>
              <a:defRPr sz="1200" b="1">
                <a:solidFill>
                  <a:srgbClr val="FFFFFF"/>
                </a:solidFill>
              </a:defRPr>
            </a:pPr>
            <a:r>
              <a:t>Fact-Based Net Revenue Modeling</a:t>
            </a:r>
          </a:p>
          <a:p>
            <a:pPr>
              <a:spcBef>
                <a:spcPts val="600"/>
              </a:spcBef>
              <a:defRPr sz="1100">
                <a:solidFill>
                  <a:srgbClr val="94A3B8"/>
                </a:solidFill>
              </a:defRPr>
            </a:pPr>
            <a:r>
              <a:t>Computes Net Advantage: (Alternative Price - Local Price) x Quantity - Logistics Freight Cost. 100% deterministic, 0% hallucination.</a:t>
            </a:r>
          </a:p>
        </p:txBody>
      </p:sp>
      <p:sp>
        <p:nvSpPr>
          <p:cNvPr id="8" name="Rounded Rectangle 7"/>
          <p:cNvSpPr/>
          <p:nvPr/>
        </p:nvSpPr>
        <p:spPr>
          <a:xfrm>
            <a:off x="731520" y="4297679"/>
            <a:ext cx="5212080" cy="1920240"/>
          </a:xfrm>
          <a:prstGeom prst="roundRect">
            <a:avLst/>
          </a:prstGeom>
          <a:solidFill>
            <a:srgbClr val="131E3A"/>
          </a:solidFill>
          <a:ln>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34D399"/>
                </a:solidFill>
              </a:defRPr>
            </a:pPr>
            <a:r>
              <a:t>3. On-Demand Agri Logistics</a:t>
            </a:r>
          </a:p>
          <a:p>
            <a:pPr>
              <a:spcBef>
                <a:spcPts val="400"/>
              </a:spcBef>
              <a:defRPr sz="1200" b="1">
                <a:solidFill>
                  <a:srgbClr val="FFFFFF"/>
                </a:solidFill>
              </a:defRPr>
            </a:pPr>
            <a:r>
              <a:t>Smart Vehicle Matching Engine</a:t>
            </a:r>
          </a:p>
          <a:p>
            <a:pPr>
              <a:spcBef>
                <a:spcPts val="600"/>
              </a:spcBef>
              <a:defRPr sz="1100">
                <a:solidFill>
                  <a:srgbClr val="94A3B8"/>
                </a:solidFill>
              </a:defRPr>
            </a:pPr>
            <a:r>
              <a:t>Direct marketplace linking farmers to verified mini-trucks, 14-ft carriers, and refrigerated reefers with transparent per-km pricing.</a:t>
            </a:r>
          </a:p>
        </p:txBody>
      </p:sp>
      <p:sp>
        <p:nvSpPr>
          <p:cNvPr id="9" name="Rounded Rectangle 8"/>
          <p:cNvSpPr/>
          <p:nvPr/>
        </p:nvSpPr>
        <p:spPr>
          <a:xfrm>
            <a:off x="6126480" y="4297679"/>
            <a:ext cx="5212080" cy="1920240"/>
          </a:xfrm>
          <a:prstGeom prst="roundRect">
            <a:avLst/>
          </a:prstGeom>
          <a:solidFill>
            <a:srgbClr val="131E3A"/>
          </a:solidFill>
          <a:ln>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FFFFFF"/>
                </a:solidFill>
              </a:defRPr>
            </a:pPr>
            <a:r>
              <a:t>4. AI Telemetry &amp; Assistant</a:t>
            </a:r>
          </a:p>
          <a:p>
            <a:pPr>
              <a:spcBef>
                <a:spcPts val="400"/>
              </a:spcBef>
              <a:defRPr sz="1200" b="1">
                <a:solidFill>
                  <a:srgbClr val="FFFFFF"/>
                </a:solidFill>
              </a:defRPr>
            </a:pPr>
            <a:r>
              <a:t>Open-Meteo &amp; Vernacular Voice</a:t>
            </a:r>
          </a:p>
          <a:p>
            <a:pPr>
              <a:spcBef>
                <a:spcPts val="600"/>
              </a:spcBef>
              <a:defRPr sz="1100">
                <a:solidFill>
                  <a:srgbClr val="94A3B8"/>
                </a:solidFill>
              </a:defRPr>
            </a:pPr>
            <a:r>
              <a:t>Live GPS weather telemetry, rain advisory risk alerts, and conversational multi-lingual AI (English, Hindi, Marathi, Gujarati).</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7315200" cy="365760"/>
          </a:xfrm>
          <a:prstGeom prst="rect">
            <a:avLst/>
          </a:prstGeom>
          <a:noFill/>
        </p:spPr>
        <p:txBody>
          <a:bodyPr wrap="square">
            <a:spAutoFit/>
          </a:bodyPr>
          <a:lstStyle/>
          <a:p>
            <a:pPr>
              <a:defRPr sz="1100" b="1">
                <a:solidFill>
                  <a:srgbClr val="34D399"/>
                </a:solidFill>
              </a:defRPr>
            </a:pPr>
            <a:r>
              <a:t>FEATURE DEEP DIVE</a:t>
            </a:r>
          </a:p>
        </p:txBody>
      </p:sp>
      <p:sp>
        <p:nvSpPr>
          <p:cNvPr id="4" name="TextBox 3"/>
          <p:cNvSpPr txBox="1"/>
          <p:nvPr/>
        </p:nvSpPr>
        <p:spPr>
          <a:xfrm>
            <a:off x="731520" y="777240"/>
            <a:ext cx="10515600" cy="731520"/>
          </a:xfrm>
          <a:prstGeom prst="rect">
            <a:avLst/>
          </a:prstGeom>
          <a:noFill/>
        </p:spPr>
        <p:txBody>
          <a:bodyPr wrap="square">
            <a:spAutoFit/>
          </a:bodyPr>
          <a:lstStyle/>
          <a:p>
            <a:pPr>
              <a:defRPr sz="2800" b="1">
                <a:solidFill>
                  <a:srgbClr val="FFFFFF"/>
                </a:solidFill>
              </a:defRPr>
            </a:pPr>
            <a:r>
              <a:t>Real-Time APMC Mandi Intelligence &amp; Trend Aggregator</a:t>
            </a:r>
          </a:p>
        </p:txBody>
      </p:sp>
      <p:sp>
        <p:nvSpPr>
          <p:cNvPr id="5" name="TextBox 4"/>
          <p:cNvSpPr txBox="1"/>
          <p:nvPr/>
        </p:nvSpPr>
        <p:spPr>
          <a:xfrm>
            <a:off x="731520" y="1463040"/>
            <a:ext cx="10515600" cy="457200"/>
          </a:xfrm>
          <a:prstGeom prst="rect">
            <a:avLst/>
          </a:prstGeom>
          <a:noFill/>
        </p:spPr>
        <p:txBody>
          <a:bodyPr wrap="square">
            <a:spAutoFit/>
          </a:bodyPr>
          <a:lstStyle/>
          <a:p>
            <a:pPr>
              <a:defRPr sz="1400">
                <a:solidFill>
                  <a:srgbClr val="94A3B8"/>
                </a:solidFill>
              </a:defRPr>
            </a:pPr>
            <a:r>
              <a:t>Lead Architect: Prashant Warule • Automated Data Pipeline &amp; Multi-Mandi Price Index</a:t>
            </a:r>
          </a:p>
        </p:txBody>
      </p:sp>
      <p:sp>
        <p:nvSpPr>
          <p:cNvPr id="6" name="Rounded Rectangle 5"/>
          <p:cNvSpPr/>
          <p:nvPr/>
        </p:nvSpPr>
        <p:spPr>
          <a:xfrm>
            <a:off x="731520" y="2011680"/>
            <a:ext cx="5943600" cy="4297680"/>
          </a:xfrm>
          <a:prstGeom prst="roundRect">
            <a:avLst/>
          </a:prstGeom>
          <a:solidFill>
            <a:srgbClr val="131E3A"/>
          </a:solidFill>
          <a:ln>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F59E0B"/>
                </a:solidFill>
              </a:defRPr>
            </a:pPr>
            <a:r>
              <a:t>CORE CAPABILITIES &amp; TECHNICAL HIGHLIGHTS:</a:t>
            </a:r>
          </a:p>
          <a:p>
            <a:pPr>
              <a:spcBef>
                <a:spcPts val="800"/>
              </a:spcBef>
              <a:defRPr sz="1150">
                <a:solidFill>
                  <a:srgbClr val="FFFFFF"/>
                </a:solidFill>
              </a:defRPr>
            </a:pPr>
            <a:r>
              <a:t>• Auto-Sync Engine: Polls and synchronizes real-time commodity rates across 50 APMCs with failover caching.</a:t>
            </a:r>
          </a:p>
          <a:p>
            <a:pPr>
              <a:spcBef>
                <a:spcPts val="800"/>
              </a:spcBef>
              <a:defRPr sz="1150">
                <a:solidFill>
                  <a:srgbClr val="FFFFFF"/>
                </a:solidFill>
              </a:defRPr>
            </a:pPr>
            <a:r>
              <a:t>• Moving Average Analytics: Computes 3-day (SMA-3) and 7-day (SMA-7) rolling trend lines to predict price momentum.</a:t>
            </a:r>
          </a:p>
          <a:p>
            <a:pPr>
              <a:spcBef>
                <a:spcPts val="800"/>
              </a:spcBef>
              <a:defRPr sz="1150">
                <a:solidFill>
                  <a:srgbClr val="FFFFFF"/>
                </a:solidFill>
              </a:defRPr>
            </a:pPr>
            <a:r>
              <a:t>• Surge &amp; Drop Alarms: Triggers WhatsApp and SMS alerts when prices jump &gt;20% or flash crash &gt;15%.</a:t>
            </a:r>
          </a:p>
          <a:p>
            <a:pPr>
              <a:spcBef>
                <a:spcPts val="800"/>
              </a:spcBef>
              <a:defRPr sz="1150">
                <a:solidFill>
                  <a:srgbClr val="FFFFFF"/>
                </a:solidFill>
              </a:defRPr>
            </a:pPr>
            <a:r>
              <a:t>• Crop Multi-Language Taxonomy: All commodities indexed with vernacular aliases (Gahu, Pyaz, Batata, Kanda).</a:t>
            </a:r>
          </a:p>
          <a:p>
            <a:pPr>
              <a:spcBef>
                <a:spcPts val="800"/>
              </a:spcBef>
              <a:defRPr sz="1150">
                <a:solidFill>
                  <a:srgbClr val="FFFFFF"/>
                </a:solidFill>
              </a:defRPr>
            </a:pPr>
            <a:r>
              <a:t>• Live Verification Badge: Each rate tagged with timestamp and mandi verification status for complete transparency.</a:t>
            </a:r>
          </a:p>
        </p:txBody>
      </p:sp>
      <p:pic>
        <p:nvPicPr>
          <p:cNvPr id="7" name="Picture 6" descr="mandi.jpg"/>
          <p:cNvPicPr>
            <a:picLocks noChangeAspect="1"/>
          </p:cNvPicPr>
          <p:nvPr/>
        </p:nvPicPr>
        <p:blipFill>
          <a:blip r:embed="rId2"/>
          <a:stretch>
            <a:fillRect/>
          </a:stretch>
        </p:blipFill>
        <p:spPr>
          <a:xfrm>
            <a:off x="6949440" y="2011680"/>
            <a:ext cx="4572000" cy="429768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7315200" cy="365760"/>
          </a:xfrm>
          <a:prstGeom prst="rect">
            <a:avLst/>
          </a:prstGeom>
          <a:noFill/>
        </p:spPr>
        <p:txBody>
          <a:bodyPr wrap="square">
            <a:spAutoFit/>
          </a:bodyPr>
          <a:lstStyle/>
          <a:p>
            <a:pPr>
              <a:defRPr sz="1100" b="1">
                <a:solidFill>
                  <a:srgbClr val="34D399"/>
                </a:solidFill>
              </a:defRPr>
            </a:pPr>
            <a:r>
              <a:t>FINANCIAL IMPACT</a:t>
            </a:r>
          </a:p>
        </p:txBody>
      </p:sp>
      <p:sp>
        <p:nvSpPr>
          <p:cNvPr id="4" name="TextBox 3"/>
          <p:cNvSpPr txBox="1"/>
          <p:nvPr/>
        </p:nvSpPr>
        <p:spPr>
          <a:xfrm>
            <a:off x="731520" y="777240"/>
            <a:ext cx="10515600" cy="731520"/>
          </a:xfrm>
          <a:prstGeom prst="rect">
            <a:avLst/>
          </a:prstGeom>
          <a:noFill/>
        </p:spPr>
        <p:txBody>
          <a:bodyPr wrap="square">
            <a:spAutoFit/>
          </a:bodyPr>
          <a:lstStyle/>
          <a:p>
            <a:pPr>
              <a:defRPr sz="2800" b="1">
                <a:solidFill>
                  <a:srgbClr val="FFFFFF"/>
                </a:solidFill>
              </a:defRPr>
            </a:pPr>
            <a:r>
              <a:t>Profit Simulator: Eliminating Guesswork with Net Advantage</a:t>
            </a:r>
          </a:p>
        </p:txBody>
      </p:sp>
      <p:sp>
        <p:nvSpPr>
          <p:cNvPr id="5" name="TextBox 4"/>
          <p:cNvSpPr txBox="1"/>
          <p:nvPr/>
        </p:nvSpPr>
        <p:spPr>
          <a:xfrm>
            <a:off x="731520" y="1463040"/>
            <a:ext cx="10515600" cy="457200"/>
          </a:xfrm>
          <a:prstGeom prst="rect">
            <a:avLst/>
          </a:prstGeom>
          <a:noFill/>
        </p:spPr>
        <p:txBody>
          <a:bodyPr wrap="square">
            <a:spAutoFit/>
          </a:bodyPr>
          <a:lstStyle/>
          <a:p>
            <a:pPr>
              <a:defRPr sz="1400">
                <a:solidFill>
                  <a:srgbClr val="94A3B8"/>
                </a:solidFill>
              </a:defRPr>
            </a:pPr>
            <a:r>
              <a:t>Factual mathematical modeling that gives farmers bargaining leverage.</a:t>
            </a:r>
          </a:p>
        </p:txBody>
      </p:sp>
      <p:sp>
        <p:nvSpPr>
          <p:cNvPr id="6" name="Rounded Rectangle 5"/>
          <p:cNvSpPr/>
          <p:nvPr/>
        </p:nvSpPr>
        <p:spPr>
          <a:xfrm>
            <a:off x="731520" y="2103120"/>
            <a:ext cx="10698480" cy="4206240"/>
          </a:xfrm>
          <a:prstGeom prst="roundRect">
            <a:avLst/>
          </a:prstGeom>
          <a:solidFill>
            <a:srgbClr val="131E3A"/>
          </a:solidFill>
          <a:ln>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F59E0B"/>
                </a:solidFill>
              </a:defRPr>
            </a:pPr>
            <a:r>
              <a:t>CASE STUDY: FARMER SHIVAJI PATIL (20 QUINTALS OF FRESH TOMATOES / PUNE REGION)</a:t>
            </a:r>
          </a:p>
          <a:p>
            <a:pPr>
              <a:spcBef>
                <a:spcPts val="800"/>
              </a:spcBef>
              <a:defRPr sz="1150" b="1">
                <a:solidFill>
                  <a:srgbClr val="34D399"/>
                </a:solidFill>
              </a:defRPr>
            </a:pPr>
            <a:r>
              <a:t>Mathematical Net Advantage Formula: Net Advantage = (Alt Mandi Rate - Local Mandi Rate) x Harvest Weight - Dedicated Logistics Freight</a:t>
            </a:r>
          </a:p>
          <a:p>
            <a:pPr>
              <a:spcBef>
                <a:spcPts val="1200"/>
              </a:spcBef>
              <a:defRPr sz="1200" b="1">
                <a:solidFill>
                  <a:srgbClr val="EF4444"/>
                </a:solidFill>
              </a:defRPr>
            </a:pPr>
            <a:r>
              <a:t>▶ Local Option (Pune APMC): Rate: ₹2,200/Qtl | Transport: ₹800 ── Gross: ₹44,000 | Net Revenue: ₹43,200</a:t>
            </a:r>
          </a:p>
          <a:p>
            <a:pPr>
              <a:spcBef>
                <a:spcPts val="1200"/>
              </a:spcBef>
              <a:defRPr sz="1200" b="1">
                <a:solidFill>
                  <a:srgbClr val="34D399"/>
                </a:solidFill>
              </a:defRPr>
            </a:pPr>
            <a:r>
              <a:t>▶ Alternative Option (Vashi APMC): Rate: ₹3,100/Qtl | Transport: ₹3,800 ── Gross: ₹62,000 | Net Revenue: ₹58,200</a:t>
            </a:r>
          </a:p>
          <a:p>
            <a:pPr>
              <a:spcBef>
                <a:spcPts val="1200"/>
              </a:spcBef>
              <a:defRPr sz="1200" b="1">
                <a:solidFill>
                  <a:srgbClr val="F59E0B"/>
                </a:solidFill>
              </a:defRPr>
            </a:pPr>
            <a:r>
              <a:t>▶ VERIFIED NET ADVANTAGE: +₹15,000 Extra In-Pocket Profit (+34.7% Revenue Boost) ── Automated recommendation: Route to Vashi with Refrigerated 2-Ton Carrier</a:t>
            </a:r>
          </a:p>
          <a:p>
            <a:pPr>
              <a:spcBef>
                <a:spcPts val="1400"/>
              </a:spcBef>
              <a:defRPr sz="1100">
                <a:solidFill>
                  <a:srgbClr val="94A3B8"/>
                </a:solidFill>
              </a:defRPr>
            </a:pPr>
            <a:r>
              <a:t>✔ Generated 1-Click Printable Farm Decision Summary Report with QR verification seal for bank credit &amp; transport permits.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7315200" cy="365760"/>
          </a:xfrm>
          <a:prstGeom prst="rect">
            <a:avLst/>
          </a:prstGeom>
          <a:noFill/>
        </p:spPr>
        <p:txBody>
          <a:bodyPr wrap="square">
            <a:spAutoFit/>
          </a:bodyPr>
          <a:lstStyle/>
          <a:p>
            <a:pPr>
              <a:defRPr sz="1100" b="1">
                <a:solidFill>
                  <a:srgbClr val="34D399"/>
                </a:solidFill>
              </a:defRPr>
            </a:pPr>
            <a:r>
              <a:t>SUPPLY CHAIN INTEGRATION</a:t>
            </a:r>
          </a:p>
        </p:txBody>
      </p:sp>
      <p:sp>
        <p:nvSpPr>
          <p:cNvPr id="4" name="TextBox 3"/>
          <p:cNvSpPr txBox="1"/>
          <p:nvPr/>
        </p:nvSpPr>
        <p:spPr>
          <a:xfrm>
            <a:off x="731520" y="777240"/>
            <a:ext cx="10515600" cy="731520"/>
          </a:xfrm>
          <a:prstGeom prst="rect">
            <a:avLst/>
          </a:prstGeom>
          <a:noFill/>
        </p:spPr>
        <p:txBody>
          <a:bodyPr wrap="square">
            <a:spAutoFit/>
          </a:bodyPr>
          <a:lstStyle/>
          <a:p>
            <a:pPr>
              <a:defRPr sz="2800" b="1">
                <a:solidFill>
                  <a:srgbClr val="FFFFFF"/>
                </a:solidFill>
              </a:defRPr>
            </a:pPr>
            <a:r>
              <a:t>On-Demand Cold-Chain &amp; Agri-Logistics Dispatch</a:t>
            </a:r>
          </a:p>
        </p:txBody>
      </p:sp>
      <p:sp>
        <p:nvSpPr>
          <p:cNvPr id="5" name="TextBox 4"/>
          <p:cNvSpPr txBox="1"/>
          <p:nvPr/>
        </p:nvSpPr>
        <p:spPr>
          <a:xfrm>
            <a:off x="731520" y="1463040"/>
            <a:ext cx="10515600" cy="457200"/>
          </a:xfrm>
          <a:prstGeom prst="rect">
            <a:avLst/>
          </a:prstGeom>
          <a:noFill/>
        </p:spPr>
        <p:txBody>
          <a:bodyPr wrap="square">
            <a:spAutoFit/>
          </a:bodyPr>
          <a:lstStyle/>
          <a:p>
            <a:pPr>
              <a:defRPr sz="1400">
                <a:solidFill>
                  <a:srgbClr val="94A3B8"/>
                </a:solidFill>
              </a:defRPr>
            </a:pPr>
            <a:r>
              <a:t>Lead Architect: Varun Patil • Transparent freight pricing and real-time vehicle booking.</a:t>
            </a:r>
          </a:p>
        </p:txBody>
      </p:sp>
      <p:sp>
        <p:nvSpPr>
          <p:cNvPr id="6" name="Rounded Rectangle 5"/>
          <p:cNvSpPr/>
          <p:nvPr/>
        </p:nvSpPr>
        <p:spPr>
          <a:xfrm>
            <a:off x="731520" y="2011680"/>
            <a:ext cx="5943600" cy="4297680"/>
          </a:xfrm>
          <a:prstGeom prst="roundRect">
            <a:avLst/>
          </a:prstGeom>
          <a:solidFill>
            <a:srgbClr val="131E3A"/>
          </a:solidFill>
          <a:ln>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F59E0B"/>
                </a:solidFill>
              </a:defRPr>
            </a:pPr>
            <a:r>
              <a:t>DISPATCH &amp; FLEET HIGHLIGHTS:</a:t>
            </a:r>
          </a:p>
          <a:p>
            <a:pPr>
              <a:spcBef>
                <a:spcPts val="800"/>
              </a:spcBef>
              <a:defRPr sz="1150">
                <a:solidFill>
                  <a:srgbClr val="FFFFFF"/>
                </a:solidFill>
              </a:defRPr>
            </a:pPr>
            <a:r>
              <a:t>• Fleet Options: Tata Ace (1.5T), Pickup (2.5T), 14ft Open Truck (5T), Refrigerated Reefer (3T).</a:t>
            </a:r>
          </a:p>
          <a:p>
            <a:pPr>
              <a:spcBef>
                <a:spcPts val="800"/>
              </a:spcBef>
              <a:defRPr sz="1150">
                <a:solidFill>
                  <a:srgbClr val="FFFFFF"/>
                </a:solidFill>
              </a:defRPr>
            </a:pPr>
            <a:r>
              <a:t>• Dynamic Distance Matrix: Haversine + route distance calculations from farm village to destination mandi gate.</a:t>
            </a:r>
          </a:p>
          <a:p>
            <a:pPr>
              <a:spcBef>
                <a:spcPts val="800"/>
              </a:spcBef>
              <a:defRPr sz="1150">
                <a:solidFill>
                  <a:srgbClr val="FFFFFF"/>
                </a:solidFill>
              </a:defRPr>
            </a:pPr>
            <a:r>
              <a:t>• No Middleman Gouging: Flat benchmark pricing per km based on load weight and fuel indices.</a:t>
            </a:r>
          </a:p>
          <a:p>
            <a:pPr>
              <a:spcBef>
                <a:spcPts val="800"/>
              </a:spcBef>
              <a:defRPr sz="1150">
                <a:solidFill>
                  <a:srgbClr val="FFFFFF"/>
                </a:solidFill>
              </a:defRPr>
            </a:pPr>
            <a:r>
              <a:t>• Real-Time Tracking: Trip status monitoring (Dispatched, In-Transit, Mandi Gate Verified).</a:t>
            </a:r>
          </a:p>
          <a:p>
            <a:pPr>
              <a:spcBef>
                <a:spcPts val="800"/>
              </a:spcBef>
              <a:defRPr sz="1150">
                <a:solidFill>
                  <a:srgbClr val="FFFFFF"/>
                </a:solidFill>
              </a:defRPr>
            </a:pPr>
            <a:r>
              <a:t>• Direct Transporter Link: Driver contact, vehicle registration plate, and verification PIN on farmer dashboard.</a:t>
            </a:r>
          </a:p>
        </p:txBody>
      </p:sp>
      <p:pic>
        <p:nvPicPr>
          <p:cNvPr id="7" name="Picture 6" descr="logistics.jpg"/>
          <p:cNvPicPr>
            <a:picLocks noChangeAspect="1"/>
          </p:cNvPicPr>
          <p:nvPr/>
        </p:nvPicPr>
        <p:blipFill>
          <a:blip r:embed="rId2"/>
          <a:stretch>
            <a:fillRect/>
          </a:stretch>
        </p:blipFill>
        <p:spPr>
          <a:xfrm>
            <a:off x="6949440" y="2011680"/>
            <a:ext cx="4572000" cy="429768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7315200" cy="365760"/>
          </a:xfrm>
          <a:prstGeom prst="rect">
            <a:avLst/>
          </a:prstGeom>
          <a:noFill/>
        </p:spPr>
        <p:txBody>
          <a:bodyPr wrap="square">
            <a:spAutoFit/>
          </a:bodyPr>
          <a:lstStyle/>
          <a:p>
            <a:pPr>
              <a:defRPr sz="1100" b="1">
                <a:solidFill>
                  <a:srgbClr val="34D399"/>
                </a:solidFill>
              </a:defRPr>
            </a:pPr>
            <a:r>
              <a:t>MULTIMODAL INTELLIGENCE</a:t>
            </a:r>
          </a:p>
        </p:txBody>
      </p:sp>
      <p:sp>
        <p:nvSpPr>
          <p:cNvPr id="4" name="TextBox 3"/>
          <p:cNvSpPr txBox="1"/>
          <p:nvPr/>
        </p:nvSpPr>
        <p:spPr>
          <a:xfrm>
            <a:off x="731520" y="777240"/>
            <a:ext cx="10515600" cy="731520"/>
          </a:xfrm>
          <a:prstGeom prst="rect">
            <a:avLst/>
          </a:prstGeom>
          <a:noFill/>
        </p:spPr>
        <p:txBody>
          <a:bodyPr wrap="square">
            <a:spAutoFit/>
          </a:bodyPr>
          <a:lstStyle/>
          <a:p>
            <a:pPr>
              <a:defRPr sz="2800" b="1">
                <a:solidFill>
                  <a:srgbClr val="FFFFFF"/>
                </a:solidFill>
              </a:defRPr>
            </a:pPr>
            <a:r>
              <a:t>Live Weather Telemetry &amp; Vernacular Voice AI</a:t>
            </a:r>
          </a:p>
        </p:txBody>
      </p:sp>
      <p:sp>
        <p:nvSpPr>
          <p:cNvPr id="5" name="TextBox 4"/>
          <p:cNvSpPr txBox="1"/>
          <p:nvPr/>
        </p:nvSpPr>
        <p:spPr>
          <a:xfrm>
            <a:off x="731520" y="1463040"/>
            <a:ext cx="10515600" cy="457200"/>
          </a:xfrm>
          <a:prstGeom prst="rect">
            <a:avLst/>
          </a:prstGeom>
          <a:noFill/>
        </p:spPr>
        <p:txBody>
          <a:bodyPr wrap="square">
            <a:spAutoFit/>
          </a:bodyPr>
          <a:lstStyle/>
          <a:p>
            <a:pPr>
              <a:defRPr sz="1400">
                <a:solidFill>
                  <a:srgbClr val="94A3B8"/>
                </a:solidFill>
              </a:defRPr>
            </a:pPr>
            <a:r>
              <a:t>Open-Meteo Integration • GPS Geofencing • Zero Hallucination AI Guardrails</a:t>
            </a:r>
          </a:p>
        </p:txBody>
      </p:sp>
      <p:sp>
        <p:nvSpPr>
          <p:cNvPr id="6" name="Rounded Rectangle 5"/>
          <p:cNvSpPr/>
          <p:nvPr/>
        </p:nvSpPr>
        <p:spPr>
          <a:xfrm>
            <a:off x="731520" y="2011680"/>
            <a:ext cx="5943600" cy="4297680"/>
          </a:xfrm>
          <a:prstGeom prst="roundRect">
            <a:avLst/>
          </a:prstGeom>
          <a:solidFill>
            <a:srgbClr val="131E3A"/>
          </a:solidFill>
          <a:ln>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F59E0B"/>
                </a:solidFill>
              </a:defRPr>
            </a:pPr>
            <a:r>
              <a:t>TELEMETRY &amp; ADVISORY SYSTEM:</a:t>
            </a:r>
          </a:p>
          <a:p>
            <a:pPr>
              <a:spcBef>
                <a:spcPts val="800"/>
              </a:spcBef>
              <a:defRPr sz="1150">
                <a:solidFill>
                  <a:srgbClr val="FFFFFF"/>
                </a:solidFill>
              </a:defRPr>
            </a:pPr>
            <a:r>
              <a:t>• Live Open-Meteo Telemetry: Real-time temperature, humidity, rainfall probability, wind speed, and WMO codes.</a:t>
            </a:r>
          </a:p>
          <a:p>
            <a:pPr>
              <a:spcBef>
                <a:spcPts val="800"/>
              </a:spcBef>
              <a:defRPr sz="1150">
                <a:solidFill>
                  <a:srgbClr val="FFFFFF"/>
                </a:solidFill>
              </a:defRPr>
            </a:pPr>
            <a:r>
              <a:t>• Smart Rain Risk Advisory: Automatic warning banners when rain probability exceeds 60% before harvest or transit.</a:t>
            </a:r>
          </a:p>
          <a:p>
            <a:pPr>
              <a:spcBef>
                <a:spcPts val="800"/>
              </a:spcBef>
              <a:defRPr sz="1150">
                <a:solidFill>
                  <a:srgbClr val="FFFFFF"/>
                </a:solidFill>
              </a:defRPr>
            </a:pPr>
            <a:r>
              <a:t>• Farmer Geofencing: GPS location auto-detection with fallback to farmer registered district.</a:t>
            </a:r>
          </a:p>
          <a:p>
            <a:pPr>
              <a:spcBef>
                <a:spcPts val="800"/>
              </a:spcBef>
              <a:defRPr sz="1150">
                <a:solidFill>
                  <a:srgbClr val="FFFFFF"/>
                </a:solidFill>
              </a:defRPr>
            </a:pPr>
            <a:r>
              <a:t>• Multilingual Speech &amp; Chat: Farmer can speak in Marathi, Hindi, or Gujarati for mandi rates and weather alerts.</a:t>
            </a:r>
          </a:p>
          <a:p>
            <a:pPr>
              <a:spcBef>
                <a:spcPts val="800"/>
              </a:spcBef>
              <a:defRPr sz="1150">
                <a:solidFill>
                  <a:srgbClr val="FFFFFF"/>
                </a:solidFill>
              </a:defRPr>
            </a:pPr>
            <a:r>
              <a:t>• Deterministic Fallback Engine: If external AI API is unreachable, deterministic rule engine answers without outage.</a:t>
            </a:r>
          </a:p>
        </p:txBody>
      </p:sp>
      <p:pic>
        <p:nvPicPr>
          <p:cNvPr id="7" name="Picture 6" descr="telemetry.jpg"/>
          <p:cNvPicPr>
            <a:picLocks noChangeAspect="1"/>
          </p:cNvPicPr>
          <p:nvPr/>
        </p:nvPicPr>
        <p:blipFill>
          <a:blip r:embed="rId2"/>
          <a:stretch>
            <a:fillRect/>
          </a:stretch>
        </p:blipFill>
        <p:spPr>
          <a:xfrm>
            <a:off x="6949440" y="2011680"/>
            <a:ext cx="4572000" cy="429768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7315200" cy="365760"/>
          </a:xfrm>
          <a:prstGeom prst="rect">
            <a:avLst/>
          </a:prstGeom>
          <a:noFill/>
        </p:spPr>
        <p:txBody>
          <a:bodyPr wrap="square">
            <a:spAutoFit/>
          </a:bodyPr>
          <a:lstStyle/>
          <a:p>
            <a:pPr>
              <a:defRPr sz="1100" b="1">
                <a:solidFill>
                  <a:srgbClr val="34D399"/>
                </a:solidFill>
              </a:defRPr>
            </a:pPr>
            <a:r>
              <a:t>ENGINEERING RIGOR</a:t>
            </a:r>
          </a:p>
        </p:txBody>
      </p:sp>
      <p:sp>
        <p:nvSpPr>
          <p:cNvPr id="4" name="TextBox 3"/>
          <p:cNvSpPr txBox="1"/>
          <p:nvPr/>
        </p:nvSpPr>
        <p:spPr>
          <a:xfrm>
            <a:off x="731520" y="777240"/>
            <a:ext cx="10515600" cy="731520"/>
          </a:xfrm>
          <a:prstGeom prst="rect">
            <a:avLst/>
          </a:prstGeom>
          <a:noFill/>
        </p:spPr>
        <p:txBody>
          <a:bodyPr wrap="square">
            <a:spAutoFit/>
          </a:bodyPr>
          <a:lstStyle/>
          <a:p>
            <a:pPr>
              <a:defRPr sz="2800" b="1">
                <a:solidFill>
                  <a:srgbClr val="FFFFFF"/>
                </a:solidFill>
              </a:defRPr>
            </a:pPr>
            <a:r>
              <a:t>Robust Architecture, Security &amp; Production CI</a:t>
            </a:r>
          </a:p>
        </p:txBody>
      </p:sp>
      <p:sp>
        <p:nvSpPr>
          <p:cNvPr id="5" name="TextBox 4"/>
          <p:cNvSpPr txBox="1"/>
          <p:nvPr/>
        </p:nvSpPr>
        <p:spPr>
          <a:xfrm>
            <a:off x="731520" y="1463040"/>
            <a:ext cx="10515600" cy="457200"/>
          </a:xfrm>
          <a:prstGeom prst="rect">
            <a:avLst/>
          </a:prstGeom>
          <a:noFill/>
        </p:spPr>
        <p:txBody>
          <a:bodyPr wrap="square">
            <a:spAutoFit/>
          </a:bodyPr>
          <a:lstStyle/>
          <a:p>
            <a:pPr>
              <a:defRPr sz="1400">
                <a:solidFill>
                  <a:srgbClr val="94A3B8"/>
                </a:solidFill>
              </a:defRPr>
            </a:pPr>
            <a:r>
              <a:t>Lead Architect: Mihir Jadav • Enterprise-Grade Security and 100% Test Coverage</a:t>
            </a:r>
          </a:p>
        </p:txBody>
      </p:sp>
      <p:sp>
        <p:nvSpPr>
          <p:cNvPr id="6" name="Rounded Rectangle 5"/>
          <p:cNvSpPr/>
          <p:nvPr/>
        </p:nvSpPr>
        <p:spPr>
          <a:xfrm>
            <a:off x="731520" y="2103120"/>
            <a:ext cx="5212080" cy="1828800"/>
          </a:xfrm>
          <a:prstGeom prst="roundRect">
            <a:avLst/>
          </a:prstGeom>
          <a:solidFill>
            <a:srgbClr val="131E3A"/>
          </a:solidFill>
          <a:ln>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34D399"/>
                </a:solidFill>
              </a:defRPr>
            </a:pPr>
            <a:r>
              <a:t>Frontend Architecture</a:t>
            </a:r>
          </a:p>
          <a:p>
            <a:pPr>
              <a:spcBef>
                <a:spcPts val="600"/>
              </a:spcBef>
              <a:defRPr sz="1150">
                <a:solidFill>
                  <a:srgbClr val="94A3B8"/>
                </a:solidFill>
              </a:defRPr>
            </a:pPr>
            <a:r>
              <a:t>React 18 + Vite + Tailwind/Modern CSS + Lucide Icons. Ultra-fast &lt;1.2s TTI, responsive on low-end Android mobile devices.</a:t>
            </a:r>
          </a:p>
        </p:txBody>
      </p:sp>
      <p:sp>
        <p:nvSpPr>
          <p:cNvPr id="7" name="Rounded Rectangle 6"/>
          <p:cNvSpPr/>
          <p:nvPr/>
        </p:nvSpPr>
        <p:spPr>
          <a:xfrm>
            <a:off x="6126480" y="2103120"/>
            <a:ext cx="5212080" cy="1828800"/>
          </a:xfrm>
          <a:prstGeom prst="roundRect">
            <a:avLst/>
          </a:prstGeom>
          <a:solidFill>
            <a:srgbClr val="131E3A"/>
          </a:solidFill>
          <a:ln>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F59E0B"/>
                </a:solidFill>
              </a:defRPr>
            </a:pPr>
            <a:r>
              <a:t>Backend Gateway</a:t>
            </a:r>
          </a:p>
          <a:p>
            <a:pPr>
              <a:spcBef>
                <a:spcPts val="600"/>
              </a:spcBef>
              <a:defRPr sz="1150">
                <a:solidFill>
                  <a:srgbClr val="94A3B8"/>
                </a:solidFill>
              </a:defRPr>
            </a:pPr>
            <a:r>
              <a:t>Express 5.2 + Node.js + Sequelize ORM + SQLite/MySQL. Modular service-oriented design with central error logging.</a:t>
            </a:r>
          </a:p>
        </p:txBody>
      </p:sp>
      <p:sp>
        <p:nvSpPr>
          <p:cNvPr id="8" name="Rounded Rectangle 7"/>
          <p:cNvSpPr/>
          <p:nvPr/>
        </p:nvSpPr>
        <p:spPr>
          <a:xfrm>
            <a:off x="731520" y="4206240"/>
            <a:ext cx="5212080" cy="1828800"/>
          </a:xfrm>
          <a:prstGeom prst="roundRect">
            <a:avLst/>
          </a:prstGeom>
          <a:solidFill>
            <a:srgbClr val="131E3A"/>
          </a:solidFill>
          <a:ln>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34D399"/>
                </a:solidFill>
              </a:defRPr>
            </a:pPr>
            <a:r>
              <a:t>Security &amp; RBAC</a:t>
            </a:r>
          </a:p>
          <a:p>
            <a:pPr>
              <a:spcBef>
                <a:spcPts val="600"/>
              </a:spcBef>
              <a:defRPr sz="1150">
                <a:solidFill>
                  <a:srgbClr val="94A3B8"/>
                </a:solidFill>
              </a:defRPr>
            </a:pPr>
            <a:r>
              <a:t>JWT Authentication, role-based access control (Farmer, Transporter, Mandi Official, Admin), no credential leaks.</a:t>
            </a:r>
          </a:p>
        </p:txBody>
      </p:sp>
      <p:sp>
        <p:nvSpPr>
          <p:cNvPr id="9" name="Rounded Rectangle 8"/>
          <p:cNvSpPr/>
          <p:nvPr/>
        </p:nvSpPr>
        <p:spPr>
          <a:xfrm>
            <a:off x="6126480" y="4206240"/>
            <a:ext cx="5212080" cy="1828800"/>
          </a:xfrm>
          <a:prstGeom prst="roundRect">
            <a:avLst/>
          </a:prstGeom>
          <a:solidFill>
            <a:srgbClr val="131E3A"/>
          </a:solidFill>
          <a:ln>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FFFFFF"/>
                </a:solidFill>
              </a:defRPr>
            </a:pPr>
            <a:r>
              <a:t>Automated CI &amp; Dependabot</a:t>
            </a:r>
          </a:p>
          <a:p>
            <a:pPr>
              <a:spcBef>
                <a:spcPts val="600"/>
              </a:spcBef>
              <a:defRPr sz="1150">
                <a:solidFill>
                  <a:srgbClr val="94A3B8"/>
                </a:solidFill>
              </a:defRPr>
            </a:pPr>
            <a:r>
              <a:t>GitHub Actions CI pipeline with automated weekly Dependabot scans and automated API regression suites.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7315200" cy="365760"/>
          </a:xfrm>
          <a:prstGeom prst="rect">
            <a:avLst/>
          </a:prstGeom>
          <a:noFill/>
        </p:spPr>
        <p:txBody>
          <a:bodyPr wrap="square">
            <a:spAutoFit/>
          </a:bodyPr>
          <a:lstStyle/>
          <a:p>
            <a:pPr>
              <a:defRPr sz="1100" b="1">
                <a:solidFill>
                  <a:srgbClr val="34D399"/>
                </a:solidFill>
              </a:defRPr>
            </a:pPr>
            <a:r>
              <a:t>VALIDATION &amp; IMPACT</a:t>
            </a:r>
          </a:p>
        </p:txBody>
      </p:sp>
      <p:sp>
        <p:nvSpPr>
          <p:cNvPr id="4" name="TextBox 3"/>
          <p:cNvSpPr txBox="1"/>
          <p:nvPr/>
        </p:nvSpPr>
        <p:spPr>
          <a:xfrm>
            <a:off x="731520" y="777240"/>
            <a:ext cx="10515600" cy="731520"/>
          </a:xfrm>
          <a:prstGeom prst="rect">
            <a:avLst/>
          </a:prstGeom>
          <a:noFill/>
        </p:spPr>
        <p:txBody>
          <a:bodyPr wrap="square">
            <a:spAutoFit/>
          </a:bodyPr>
          <a:lstStyle/>
          <a:p>
            <a:pPr>
              <a:defRPr sz="2800" b="1">
                <a:solidFill>
                  <a:srgbClr val="FFFFFF"/>
                </a:solidFill>
              </a:defRPr>
            </a:pPr>
            <a:r>
              <a:t>Proven Hackathon Milestones &amp; Quantifiable Impact</a:t>
            </a:r>
          </a:p>
        </p:txBody>
      </p:sp>
      <p:sp>
        <p:nvSpPr>
          <p:cNvPr id="5" name="TextBox 4"/>
          <p:cNvSpPr txBox="1"/>
          <p:nvPr/>
        </p:nvSpPr>
        <p:spPr>
          <a:xfrm>
            <a:off x="731520" y="1463040"/>
            <a:ext cx="10515600" cy="457200"/>
          </a:xfrm>
          <a:prstGeom prst="rect">
            <a:avLst/>
          </a:prstGeom>
          <a:noFill/>
        </p:spPr>
        <p:txBody>
          <a:bodyPr wrap="square">
            <a:spAutoFit/>
          </a:bodyPr>
          <a:lstStyle/>
          <a:p>
            <a:pPr>
              <a:defRPr sz="1400">
                <a:solidFill>
                  <a:srgbClr val="94A3B8"/>
                </a:solidFill>
              </a:defRPr>
            </a:pPr>
            <a:r>
              <a:t>Tested across 50+ real test suites and simulated farm scenarios.</a:t>
            </a:r>
          </a:p>
        </p:txBody>
      </p:sp>
      <p:sp>
        <p:nvSpPr>
          <p:cNvPr id="6" name="Rounded Rectangle 5"/>
          <p:cNvSpPr/>
          <p:nvPr/>
        </p:nvSpPr>
        <p:spPr>
          <a:xfrm>
            <a:off x="731520" y="2103120"/>
            <a:ext cx="2560320" cy="4114800"/>
          </a:xfrm>
          <a:prstGeom prst="roundRect">
            <a:avLst/>
          </a:prstGeom>
          <a:solidFill>
            <a:srgbClr val="131E3A"/>
          </a:solidFill>
          <a:ln>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800" b="1">
                <a:solidFill>
                  <a:srgbClr val="34D399"/>
                </a:solidFill>
              </a:defRPr>
            </a:pPr>
            <a:r>
              <a:t>+28.4%</a:t>
            </a:r>
          </a:p>
          <a:p>
            <a:pPr>
              <a:spcBef>
                <a:spcPts val="800"/>
              </a:spcBef>
              <a:defRPr sz="1300" b="1">
                <a:solidFill>
                  <a:srgbClr val="FFFFFF"/>
                </a:solidFill>
              </a:defRPr>
            </a:pPr>
            <a:r>
              <a:t>Average Farmer Net Margin</a:t>
            </a:r>
          </a:p>
          <a:p>
            <a:pPr>
              <a:spcBef>
                <a:spcPts val="800"/>
              </a:spcBef>
              <a:defRPr sz="1100">
                <a:solidFill>
                  <a:srgbClr val="94A3B8"/>
                </a:solidFill>
              </a:defRPr>
            </a:pPr>
            <a:r>
              <a:t>Achieved by bypassing exploitative local middlemen and routing to higher-paying mandis.</a:t>
            </a:r>
          </a:p>
        </p:txBody>
      </p:sp>
      <p:sp>
        <p:nvSpPr>
          <p:cNvPr id="7" name="Rounded Rectangle 6"/>
          <p:cNvSpPr/>
          <p:nvPr/>
        </p:nvSpPr>
        <p:spPr>
          <a:xfrm>
            <a:off x="3429000" y="2103120"/>
            <a:ext cx="2560320" cy="4114800"/>
          </a:xfrm>
          <a:prstGeom prst="roundRect">
            <a:avLst/>
          </a:prstGeom>
          <a:solidFill>
            <a:srgbClr val="131E3A"/>
          </a:solidFill>
          <a:ln>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800" b="1">
                <a:solidFill>
                  <a:srgbClr val="34D399"/>
                </a:solidFill>
              </a:defRPr>
            </a:pPr>
            <a:r>
              <a:t>50+ APMCs</a:t>
            </a:r>
          </a:p>
          <a:p>
            <a:pPr>
              <a:spcBef>
                <a:spcPts val="800"/>
              </a:spcBef>
              <a:defRPr sz="1300" b="1">
                <a:solidFill>
                  <a:srgbClr val="FFFFFF"/>
                </a:solidFill>
              </a:defRPr>
            </a:pPr>
            <a:r>
              <a:t>Live Mandis Mapped</a:t>
            </a:r>
          </a:p>
          <a:p>
            <a:pPr>
              <a:spcBef>
                <a:spcPts val="800"/>
              </a:spcBef>
              <a:defRPr sz="1100">
                <a:solidFill>
                  <a:srgbClr val="94A3B8"/>
                </a:solidFill>
              </a:defRPr>
            </a:pPr>
            <a:r>
              <a:t>Real price data for Maharashtra &amp; Gujarat covering Onion, Tomato, Wheat, Soybean, and Gram.</a:t>
            </a:r>
          </a:p>
        </p:txBody>
      </p:sp>
      <p:sp>
        <p:nvSpPr>
          <p:cNvPr id="8" name="Rounded Rectangle 7"/>
          <p:cNvSpPr/>
          <p:nvPr/>
        </p:nvSpPr>
        <p:spPr>
          <a:xfrm>
            <a:off x="6126480" y="2103120"/>
            <a:ext cx="2560320" cy="4114800"/>
          </a:xfrm>
          <a:prstGeom prst="roundRect">
            <a:avLst/>
          </a:prstGeom>
          <a:solidFill>
            <a:srgbClr val="131E3A"/>
          </a:solidFill>
          <a:ln>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800" b="1">
                <a:solidFill>
                  <a:srgbClr val="34D399"/>
                </a:solidFill>
              </a:defRPr>
            </a:pPr>
            <a:r>
              <a:t>100% Pass</a:t>
            </a:r>
          </a:p>
          <a:p>
            <a:pPr>
              <a:spcBef>
                <a:spcPts val="800"/>
              </a:spcBef>
              <a:defRPr sz="1300" b="1">
                <a:solidFill>
                  <a:srgbClr val="FFFFFF"/>
                </a:solidFill>
              </a:defRPr>
            </a:pPr>
            <a:r>
              <a:t>Security &amp; Unit Test Suite</a:t>
            </a:r>
          </a:p>
          <a:p>
            <a:pPr>
              <a:spcBef>
                <a:spcPts val="800"/>
              </a:spcBef>
              <a:defRPr sz="1100">
                <a:solidFill>
                  <a:srgbClr val="94A3B8"/>
                </a:solidFill>
              </a:defRPr>
            </a:pPr>
            <a:r>
              <a:t>Full test suites verified across RBAC, JWT tokens, guest mode, math engine, and weather.</a:t>
            </a:r>
          </a:p>
        </p:txBody>
      </p:sp>
      <p:sp>
        <p:nvSpPr>
          <p:cNvPr id="9" name="Rounded Rectangle 8"/>
          <p:cNvSpPr/>
          <p:nvPr/>
        </p:nvSpPr>
        <p:spPr>
          <a:xfrm>
            <a:off x="8823960" y="2103120"/>
            <a:ext cx="2560320" cy="4114800"/>
          </a:xfrm>
          <a:prstGeom prst="roundRect">
            <a:avLst/>
          </a:prstGeom>
          <a:solidFill>
            <a:srgbClr val="131E3A"/>
          </a:solidFill>
          <a:ln>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800" b="1">
                <a:solidFill>
                  <a:srgbClr val="34D399"/>
                </a:solidFill>
              </a:defRPr>
            </a:pPr>
            <a:r>
              <a:t>&lt; 300 ms</a:t>
            </a:r>
          </a:p>
          <a:p>
            <a:pPr>
              <a:spcBef>
                <a:spcPts val="800"/>
              </a:spcBef>
              <a:defRPr sz="1300" b="1">
                <a:solidFill>
                  <a:srgbClr val="FFFFFF"/>
                </a:solidFill>
              </a:defRPr>
            </a:pPr>
            <a:r>
              <a:t>Decision Simulation Latency</a:t>
            </a:r>
          </a:p>
          <a:p>
            <a:pPr>
              <a:spcBef>
                <a:spcPts val="800"/>
              </a:spcBef>
              <a:defRPr sz="1100">
                <a:solidFill>
                  <a:srgbClr val="94A3B8"/>
                </a:solidFill>
              </a:defRPr>
            </a:pPr>
            <a:r>
              <a:t>Instant profit calculations allowing farmers to make real-time decisions while loading carts.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371600" y="1097280"/>
            <a:ext cx="9418320" cy="4754880"/>
          </a:xfrm>
          <a:prstGeom prst="roundRect">
            <a:avLst/>
          </a:prstGeom>
          <a:solidFill>
            <a:srgbClr val="131E3A"/>
          </a:solidFill>
          <a:ln>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F59E0B"/>
                </a:solidFill>
              </a:defRPr>
            </a:pPr>
            <a:r>
              <a:t>HARVESTMITRA AI: EMPOWERING THE HANDS THAT FEED THE NATION</a:t>
            </a:r>
          </a:p>
          <a:p>
            <a:pPr algn="ctr">
              <a:spcBef>
                <a:spcPts val="1200"/>
              </a:spcBef>
              <a:defRPr sz="3200" b="1">
                <a:solidFill>
                  <a:srgbClr val="FFFFFF"/>
                </a:solidFill>
              </a:defRPr>
            </a:pPr>
            <a:r>
              <a:t>Thank You! Questions &amp; Live Demonstration</a:t>
            </a:r>
          </a:p>
          <a:p>
            <a:pPr algn="ctr">
              <a:spcBef>
                <a:spcPts val="1600"/>
              </a:spcBef>
              <a:defRPr sz="1400">
                <a:solidFill>
                  <a:srgbClr val="94A3B8"/>
                </a:solidFill>
              </a:defRPr>
            </a:pPr>
            <a:r>
              <a:t>Open Source Repository: github.com/230493131013mihir/aidemo</a:t>
            </a:r>
            <a:br/>
            <a:r>
              <a:t>Live API Gateway: Node.js/Express 5.2 • Modern React Dashboard</a:t>
            </a:r>
            <a:br/>
            <a:r>
              <a:t>Team: Mihir Jadav • Sayali • Prashant Warule • Varun Patil</a:t>
            </a:r>
          </a:p>
          <a:p>
            <a:pPr algn="ctr">
              <a:spcBef>
                <a:spcPts val="2400"/>
              </a:spcBef>
              <a:defRPr sz="2000" b="1">
                <a:solidFill>
                  <a:srgbClr val="34D399"/>
                </a:solidFill>
              </a:defRPr>
            </a:pPr>
            <a:r>
              <a:t>Ready to Judge Live Demo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