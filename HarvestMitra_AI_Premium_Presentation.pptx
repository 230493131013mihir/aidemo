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5C72FF-4C63-46FD-8809-0AD147EFC3DF}"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BB03B-EC80-4FE9-A557-7E6EF37297A0}" type="slidenum">
              <a:rPr lang="en-IN" smtClean="0"/>
              <a:t>‹#›</a:t>
            </a:fld>
            <a:endParaRPr lang="en-IN"/>
          </a:p>
        </p:txBody>
      </p:sp>
    </p:spTree>
    <p:extLst>
      <p:ext uri="{BB962C8B-B14F-4D97-AF65-F5344CB8AC3E}">
        <p14:creationId xmlns:p14="http://schemas.microsoft.com/office/powerpoint/2010/main" val="94460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"Respected judges and evaluators, I am Mihir Jadav, Team Leader for HarvestMitra AI. Across Bharat, 86% of smallholder farmers suffer an estimated 20% to 30% financial loss every season due to forced distress selling at village mandis, opaque cartel pricing, and solo freight costs. To solve this, our engineering squad built HarvestMitra AI — a production-grade agritech ecosystem that unifies deterministic price arbitrage, 106 live APMC mandis, multilingual voice AI, and shared farm logistics. Let us examine the critical problem Indian farmers face today."</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a:t>
            </a:fld>
            <a:endParaRPr lang="en-IN"/>
          </a:p>
        </p:txBody>
      </p:sp>
    </p:spTree>
    <p:extLst>
      <p:ext uri="{BB962C8B-B14F-4D97-AF65-F5344CB8AC3E}">
        <p14:creationId xmlns:p14="http://schemas.microsoft.com/office/powerpoint/2010/main" val="3862642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"When a smallholder farmer in Maharashtra harvests tomatoes, they face an impossible choice. Local village traders offer suppressed rates, often 20% below actual terminal demand. Holding the produce means risk of total rot within 48 hours, while hiring an entire truck to reach Mumbai Vashi APMC is financially prohibitive for 500 kilograms. This triple trap—cartels, perishability, and freight—causes an estimated ₹92,000 crore annual value destruction across rural India."</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2</a:t>
            </a:fld>
            <a:endParaRPr lang="en-IN"/>
          </a:p>
        </p:txBody>
      </p:sp>
    </p:spTree>
    <p:extLst>
      <p:ext uri="{BB962C8B-B14F-4D97-AF65-F5344CB8AC3E}">
        <p14:creationId xmlns:p14="http://schemas.microsoft.com/office/powerpoint/2010/main" val="4009435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"HarvestMitra AI replaces distress selling with deterministic profit arbitrage. Instead of forcing a farmer to guess where to sell, our system connects crop registration to verified 3-scenario financial simulation, direct buyer matching, and pooled highway transport. Crucially, our math is never hallucinated by generative AI. Our verified math engine evaluates real highway tolls, diesel costs, and APMC cess to give the farmer factual take-home profit."</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3</a:t>
            </a:fld>
            <a:endParaRPr lang="en-IN"/>
          </a:p>
        </p:txBody>
      </p:sp>
    </p:spTree>
    <p:extLst>
      <p:ext uri="{BB962C8B-B14F-4D97-AF65-F5344CB8AC3E}">
        <p14:creationId xmlns:p14="http://schemas.microsoft.com/office/powerpoint/2010/main" val="2309287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"Here is the exact journey in 4 simple steps: First, the farmer enters their crop acreage or connects their 7/12 Agristack land record. Second, our simulator calculates take-home returns across local, cold-storage, and regional mandi scenarios. Third, if a regional terminal wins, the platform matches them with APMC buyers or bulk FPO lots. Fourth, the farmer books shared transport, receives a digital QR gate pass, and locks freight in escrow. Sayali will now present the farmer interface."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4</a:t>
            </a:fld>
            <a:endParaRPr lang="en-IN"/>
          </a:p>
        </p:txBody>
      </p:sp>
    </p:spTree>
    <p:extLst>
      <p:ext uri="{BB962C8B-B14F-4D97-AF65-F5344CB8AC3E}">
        <p14:creationId xmlns:p14="http://schemas.microsoft.com/office/powerpoint/2010/main" val="4263242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"HarvestMitra AI is not a single-user app. We designed a cohesive multi-stakeholder ecosystem. Farmers simulate harvest profits and book transport; FPO Leaders pool member crops into bulk institutional lots; APMC Mandi officials issue direct procurement bids; Transporters fill empty truck capacity along highway corridors; and APMC Administrators govern price benchmarks and security. I will now turn the stage over to Sayali Kulkarni to showcase our zero-friction farmer experience."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5</a:t>
            </a:fld>
            <a:endParaRPr lang="en-IN"/>
          </a:p>
        </p:txBody>
      </p:sp>
    </p:spTree>
    <p:extLst>
      <p:ext uri="{BB962C8B-B14F-4D97-AF65-F5344CB8AC3E}">
        <p14:creationId xmlns:p14="http://schemas.microsoft.com/office/powerpoint/2010/main" val="637570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"HarvestMitra AI is architected on a rock-solid 4-tier stack. Our React 19 frontend provides fast, responsive analytics using Recharts and Leaflet. Our Express 5 gateway enforces strict role-based access control and runs our deterministic math engine. Our MySQL database maintains 14 relational tables with full ACID transaction guarantees for produce allocations. And our integration tier pulls live satellite weather from Open-Meteo and validates 7/12 land records."</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6</a:t>
            </a:fld>
            <a:endParaRPr lang="en-IN"/>
          </a:p>
        </p:txBody>
      </p:sp>
    </p:spTree>
    <p:extLst>
      <p:ext uri="{BB962C8B-B14F-4D97-AF65-F5344CB8AC3E}">
        <p14:creationId xmlns:p14="http://schemas.microsoft.com/office/powerpoint/2010/main" val="272126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"Let us look under the hood at our production APIs. Our arbitrage endpoint calculates factual take-home profit by deducting highway tolls and diesel fuel rather than returning raw gross prices. Our transport endpoint prevents double-booking through an active driver lock, returning a 409 Conflict if violated. And our FPO aggregation API enforces mathematical inventory guards, rejecting any lot where committed produce exceeds a farmer's uncommitted stock. Sayali will now demonstrate how this powers our farmer user interface."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7</a:t>
            </a:fld>
            <a:endParaRPr lang="en-IN"/>
          </a:p>
        </p:txBody>
      </p:sp>
    </p:spTree>
    <p:extLst>
      <p:ext uri="{BB962C8B-B14F-4D97-AF65-F5344CB8AC3E}">
        <p14:creationId xmlns:p14="http://schemas.microsoft.com/office/powerpoint/2010/main" val="898985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SAYALI KULKARNI (Frontend &amp; UI/UX)
"Thank you, Mihir. In engineering the HarvestMitra frontend, our primary objective was zero rural friction. First, we built Universal Guest Mode: a farmer should never be blocked by an OTP wall just to check daily crop prices. Second, our Multi-Crop Acreage visualizer uses Recharts to calculate land allocation and expected harvest tonnage across multiple crops simultaneously. And third, recognizing that farmers need paper documentation for bank credit or APMC clearances, our One-Click Printable Farm Report transforms the screen into a clean, loan-ready A4 document. Mihir will now explain our newly integrated FPO module."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8</a:t>
            </a:fld>
            <a:endParaRPr lang="en-IN"/>
          </a:p>
        </p:txBody>
      </p:sp>
    </p:spTree>
    <p:extLst>
      <p:ext uri="{BB962C8B-B14F-4D97-AF65-F5344CB8AC3E}">
        <p14:creationId xmlns:p14="http://schemas.microsoft.com/office/powerpoint/2010/main" val="1871498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"Smallholder farmers alone often lack bargaining power. That is why we engineered a complete FPO Module. An FPO leader can aggregate produce across dozens of smallholders—for instance, pooling 2,500 kilograms of onions from three farmers into a single lot. The FPO dispatches this bulk lot to Vashi APMC, receives an electronic counter-quotation at ₹31 per kilo, and confirms the contract. Our payout ledger automatically splits gross revenue and proportional freight deductions, ensuring 100% financial transparency. All 15 automated FPO test suites pass."</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9</a:t>
            </a:fld>
            <a:endParaRPr lang="en-IN"/>
          </a:p>
        </p:txBody>
      </p:sp>
    </p:spTree>
    <p:extLst>
      <p:ext uri="{BB962C8B-B14F-4D97-AF65-F5344CB8AC3E}">
        <p14:creationId xmlns:p14="http://schemas.microsoft.com/office/powerpoint/2010/main" val="3637285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"On the buyer side, our dedicated APMC Mandi Portal gives licensed wholesale officials direct visibility into farm arrivals. A mandi official in Pune can view incoming produce from 28 registered district farmers and dispatch a binding procurement offer directly to a farmer's dashboard. This bypasses village brokers, eliminates commission leakage, and creates a verified digital audit trail. Prashant Warule will now show how produce is physically transported."</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10</a:t>
            </a:fld>
            <a:endParaRPr lang="en-IN"/>
          </a:p>
        </p:txBody>
      </p:sp>
    </p:spTree>
    <p:extLst>
      <p:ext uri="{BB962C8B-B14F-4D97-AF65-F5344CB8AC3E}">
        <p14:creationId xmlns:p14="http://schemas.microsoft.com/office/powerpoint/2010/main" val="3976051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PRASHANT WARULE (Transporter Module &amp; Shared Logistics)
"Thank you, Mihir. In traditional rural logistics, a farmer dispatching 500 kg pays for an entire truck. Our Shared Transport Pooling Engine matches farmers along identical highway corridors, cutting freight costs by 40% to 50%. To protect both parties, our system enforces a single-trip driver lock, generates a Digital Mandi Gate Pass with an encrypted QR verification seal, and locks freight payments in escrow until delivery is confirmed. Varun will now present our AI and weather intelligence."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11</a:t>
            </a:fld>
            <a:endParaRPr lang="en-IN"/>
          </a:p>
        </p:txBody>
      </p:sp>
    </p:spTree>
    <p:extLst>
      <p:ext uri="{BB962C8B-B14F-4D97-AF65-F5344CB8AC3E}">
        <p14:creationId xmlns:p14="http://schemas.microsoft.com/office/powerpoint/2010/main" val="3566175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VARUN PATIL (AI, Market Trends &amp; Weather Integrations)
"Thank you, Prashant. Literacy should never be a barrier to technology. Our Mitra Voice Assistant allows a farmer to speak naturally in Marathi or Hindi to check commodity prices and receive spoken audio responses. If village internet drops, our sub-15-millisecond deterministic fallback engine continues answering without cloud dependency. Furthermore, our 14-day price forecasting engine projects price bounds, while live Open-Meteo satellite telemetry warns farmers before heavy rains destroy exposed harvests. Mihir will now present our security architecture."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12</a:t>
            </a:fld>
            <a:endParaRPr lang="en-IN"/>
          </a:p>
        </p:txBody>
      </p:sp>
    </p:spTree>
    <p:extLst>
      <p:ext uri="{BB962C8B-B14F-4D97-AF65-F5344CB8AC3E}">
        <p14:creationId xmlns:p14="http://schemas.microsoft.com/office/powerpoint/2010/main" val="225916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"Security and governance are built into the foundation of HarvestMitra AI. Our role-based security matrix strictly enforces access permissions: farmers attempting to call admin endpoints receive immediate 403 Forbidden responses. Passwords use bcrypt with 10 salt rounds, sessions are isolated without token leaks, and APMC administrators have dedicated controls to moderate benchmark rates and review system audit logs. Let us now walk through our live demonstration sequence."</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13</a:t>
            </a:fld>
            <a:endParaRPr lang="en-IN"/>
          </a:p>
        </p:txBody>
      </p:sp>
    </p:spTree>
    <p:extLst>
      <p:ext uri="{BB962C8B-B14F-4D97-AF65-F5344CB8AC3E}">
        <p14:creationId xmlns:p14="http://schemas.microsoft.com/office/powerpoint/2010/main" val="890323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"To prove this is live software and not a slide presentation, we have prepared an end-to-end 6-step demo sequence. First, Sayali shows Universal Guest Mode on the landing page. Second, she opens the Farmer Dashboard and prints an A4 report. Third, Prashant demonstrates the 3-scenario simulator, proving a ₹14,000 net profit advantage at Vashi APMC. Fourth, Varun books shared transport and displays the digital QR gate pass. Fifth, he demonstrates live multilingual voice query with Mitra AI. And sixth, I demonstrate the Mandi and Admin consoles. All accounts are pre-provisioned and active on our deployed Render server."</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14</a:t>
            </a:fld>
            <a:endParaRPr lang="en-IN"/>
          </a:p>
        </p:txBody>
      </p:sp>
    </p:spTree>
    <p:extLst>
      <p:ext uri="{BB962C8B-B14F-4D97-AF65-F5344CB8AC3E}">
        <p14:creationId xmlns:p14="http://schemas.microsoft.com/office/powerpoint/2010/main" val="103140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"HarvestMitra AI is not a weekend prototype. We have merged 40 pull requests, achieved 100% success across 33 automated test suites, and connected 106 APMC mandis. Our strategic roadmap outlines realistic next steps: partnering with the National Agristack API for official land verification, deploying IoT temperature sensors for refrigerated transit, building an offline-first PWA for zero-connectivity zones, and integrating with District Cooperative Banks for instant harvest financing."</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15</a:t>
            </a:fld>
            <a:endParaRPr lang="en-IN"/>
          </a:p>
        </p:txBody>
      </p:sp>
    </p:spTree>
    <p:extLst>
      <p:ext uri="{BB962C8B-B14F-4D97-AF65-F5344CB8AC3E}">
        <p14:creationId xmlns:p14="http://schemas.microsoft.com/office/powerpoint/2010/main" val="308336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MIHIR JADAV (Team Leader)
"To conclude: HarvestMitra AI is not theoretical research. It is a tested, production-ready ecosystem designed to return factual profit to Bharat's 140 million farmers. On behalf of Sayali, Prashant, Varun, and myself, thank you for your time. Respected judges, we welcome your questions."</a:t>
            </a:r>
            <a:endParaRPr lang="en-IN"/>
          </a:p>
        </p:txBody>
      </p:sp>
      <p:sp>
        <p:nvSpPr>
          <p:cNvPr id="4" name="Slide Number Placeholder 3"/>
          <p:cNvSpPr>
            <a:spLocks noGrp="1"/>
          </p:cNvSpPr>
          <p:nvPr>
            <p:ph type="sldNum" sz="quarter" idx="5"/>
          </p:nvPr>
        </p:nvSpPr>
        <p:spPr/>
        <p:txBody>
          <a:bodyPr/>
          <a:lstStyle/>
          <a:p>
            <a:fld id="{B84BB03B-EC80-4FE9-A557-7E6EF37297A0}" type="slidenum">
              <a:rPr lang="en-IN" smtClean="0"/>
              <a:t>16</a:t>
            </a:fld>
            <a:endParaRPr lang="en-IN"/>
          </a:p>
        </p:txBody>
      </p:sp>
    </p:spTree>
    <p:extLst>
      <p:ext uri="{BB962C8B-B14F-4D97-AF65-F5344CB8AC3E}">
        <p14:creationId xmlns:p14="http://schemas.microsoft.com/office/powerpoint/2010/main" val="3745333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05840"/>
            <a:ext cx="6217920" cy="365760"/>
          </a:xfrm>
          <a:prstGeom prst="rect">
            <a:avLst/>
          </a:prstGeom>
          <a:noFill/>
        </p:spPr>
        <p:txBody>
          <a:bodyPr wrap="none">
            <a:spAutoFit/>
          </a:bodyPr>
          <a:lstStyle/>
          <a:p>
            <a:pPr>
              <a:defRPr sz="1050" b="1">
                <a:solidFill>
                  <a:srgbClr val="F59E0B"/>
                </a:solidFill>
              </a:defRPr>
            </a:pPr>
            <a:r>
              <a:t>NATIONAL AGRI-TECH HACKATHON 2026 • PRODUCTION SHOWCASE</a:t>
            </a:r>
          </a:p>
        </p:txBody>
      </p:sp>
      <p:sp>
        <p:nvSpPr>
          <p:cNvPr id="5" name="TextBox 4"/>
          <p:cNvSpPr txBox="1"/>
          <p:nvPr/>
        </p:nvSpPr>
        <p:spPr>
          <a:xfrm>
            <a:off x="731520" y="1371600"/>
            <a:ext cx="6217920" cy="1463040"/>
          </a:xfrm>
          <a:prstGeom prst="rect">
            <a:avLst/>
          </a:prstGeom>
          <a:noFill/>
        </p:spPr>
        <p:txBody>
          <a:bodyPr wrap="square">
            <a:spAutoFit/>
          </a:bodyPr>
          <a:lstStyle/>
          <a:p>
            <a:pPr>
              <a:defRPr sz="4400" b="1">
                <a:solidFill>
                  <a:srgbClr val="FFFFFF"/>
                </a:solidFill>
              </a:defRPr>
            </a:pPr>
            <a:r>
              <a:t>HarvestMitra AI</a:t>
            </a:r>
          </a:p>
          <a:p>
            <a:pPr>
              <a:spcBef>
                <a:spcPts val="600"/>
              </a:spcBef>
              <a:defRPr sz="1600" b="1">
                <a:solidFill>
                  <a:srgbClr val="34D399"/>
                </a:solidFill>
              </a:defRPr>
            </a:pPr>
            <a:r>
              <a:t>Intelligent APMC Mandi Arbitrage, Profit Simulation &amp; Farm Cold-Chain Logistics</a:t>
            </a:r>
          </a:p>
        </p:txBody>
      </p:sp>
      <p:sp>
        <p:nvSpPr>
          <p:cNvPr id="6" name="TextBox 5"/>
          <p:cNvSpPr txBox="1"/>
          <p:nvPr/>
        </p:nvSpPr>
        <p:spPr>
          <a:xfrm>
            <a:off x="731520" y="2926080"/>
            <a:ext cx="6217920" cy="1280160"/>
          </a:xfrm>
          <a:prstGeom prst="rect">
            <a:avLst/>
          </a:prstGeom>
          <a:noFill/>
        </p:spPr>
        <p:txBody>
          <a:bodyPr wrap="square">
            <a:spAutoFit/>
          </a:bodyPr>
          <a:lstStyle/>
          <a:p>
            <a:pPr>
              <a:defRPr sz="1250">
                <a:solidFill>
                  <a:srgbClr val="94A3B8"/>
                </a:solidFill>
              </a:defRPr>
            </a:pPr>
            <a:r>
              <a:t>An end-to-end full-stack AI ecosystem empowering 140M+ Indian farmers to overcome mandi cartels, simulate factual net revenue across mandis, eliminate middleman exploitation, and book on-demand refrigerated dispatch.</a:t>
            </a:r>
          </a:p>
        </p:txBody>
      </p:sp>
      <p:sp>
        <p:nvSpPr>
          <p:cNvPr id="7" name="Rounded Rectangle 6"/>
          <p:cNvSpPr/>
          <p:nvPr/>
        </p:nvSpPr>
        <p:spPr>
          <a:xfrm>
            <a:off x="731520" y="4023360"/>
            <a:ext cx="6217920" cy="502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4069080"/>
            <a:ext cx="6035040" cy="411480"/>
          </a:xfrm>
          <a:prstGeom prst="rect">
            <a:avLst/>
          </a:prstGeom>
          <a:noFill/>
        </p:spPr>
        <p:txBody>
          <a:bodyPr wrap="none">
            <a:spAutoFit/>
          </a:bodyPr>
          <a:lstStyle/>
          <a:p>
            <a:pPr>
              <a:defRPr sz="1050" b="1">
                <a:solidFill>
                  <a:srgbClr val="34D399"/>
                </a:solidFill>
              </a:defRPr>
            </a:pPr>
            <a:r>
              <a:t>⚡ 106 APMC Mandis Monitored  •  33/33 Tests Verified  •  40 Merged PRs  •  Sub-15ms Offline AI</a:t>
            </a:r>
          </a:p>
        </p:txBody>
      </p:sp>
      <p:sp>
        <p:nvSpPr>
          <p:cNvPr id="9" name="Rounded Rectangle 8"/>
          <p:cNvSpPr/>
          <p:nvPr/>
        </p:nvSpPr>
        <p:spPr>
          <a:xfrm>
            <a:off x="731520" y="4754880"/>
            <a:ext cx="6217920" cy="155448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846320"/>
            <a:ext cx="5852160" cy="1371600"/>
          </a:xfrm>
          <a:prstGeom prst="rect">
            <a:avLst/>
          </a:prstGeom>
          <a:noFill/>
        </p:spPr>
        <p:txBody>
          <a:bodyPr wrap="square">
            <a:spAutoFit/>
          </a:bodyPr>
          <a:lstStyle/>
          <a:p>
            <a:pPr>
              <a:defRPr sz="1000" b="1">
                <a:solidFill>
                  <a:srgbClr val="F59E0B"/>
                </a:solidFill>
              </a:defRPr>
            </a:pPr>
            <a:r>
              <a:t>ENGINEERING SQUAD &amp; MODULE OWNERSHIP:</a:t>
            </a:r>
          </a:p>
          <a:p>
            <a:pPr>
              <a:spcBef>
                <a:spcPts val="200"/>
              </a:spcBef>
              <a:defRPr sz="950">
                <a:solidFill>
                  <a:srgbClr val="FFFFFF"/>
                </a:solidFill>
              </a:defRPr>
            </a:pPr>
            <a:r>
              <a:t>• Mihir Jadav (Team Lead): System Architecture, Unified Backend API &amp; Security Enforcement</a:t>
            </a:r>
          </a:p>
          <a:p>
            <a:pPr>
              <a:spcBef>
                <a:spcPts val="200"/>
              </a:spcBef>
              <a:defRPr sz="950">
                <a:solidFill>
                  <a:srgbClr val="FFFFFF"/>
                </a:solidFill>
              </a:defRPr>
            </a:pPr>
            <a:r>
              <a:t>• Sayali Kulkarni: Frontend UI/UX, Farmer Accessibility &amp; Universal Guest Mode</a:t>
            </a:r>
          </a:p>
          <a:p>
            <a:pPr>
              <a:spcBef>
                <a:spcPts val="200"/>
              </a:spcBef>
              <a:defRPr sz="950">
                <a:solidFill>
                  <a:srgbClr val="FFFFFF"/>
                </a:solidFill>
              </a:defRPr>
            </a:pPr>
            <a:r>
              <a:t>• Prashant Warule: Core Harvest Decision Simulator &amp; Shared Highway Transport</a:t>
            </a:r>
          </a:p>
          <a:p>
            <a:pPr>
              <a:spcBef>
                <a:spcPts val="200"/>
              </a:spcBef>
              <a:defRPr sz="950">
                <a:solidFill>
                  <a:srgbClr val="FFFFFF"/>
                </a:solidFill>
              </a:defRPr>
            </a:pPr>
            <a:r>
              <a:t>• Varun Patil: Mitra Multilingual Voice AI, Market Arbitrage &amp; Weather Telemetry</a:t>
            </a:r>
          </a:p>
        </p:txBody>
      </p:sp>
      <p:pic>
        <p:nvPicPr>
          <p:cNvPr id="11" name="Picture 10" descr="hero.jpg"/>
          <p:cNvPicPr>
            <a:picLocks noChangeAspect="1"/>
          </p:cNvPicPr>
          <p:nvPr/>
        </p:nvPicPr>
        <p:blipFill>
          <a:blip r:embed="rId3"/>
          <a:stretch>
            <a:fillRect/>
          </a:stretch>
        </p:blipFill>
        <p:spPr>
          <a:xfrm>
            <a:off x="7132320" y="1005840"/>
            <a:ext cx="4389120" cy="53035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GROUND REALITY • AGRICULTURAL SUPPLY CHAIN CRISIS</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The Smallholder Trap: Why Indian Farmers Lose 20–30% Every Harvest</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Opaque mandi cartels, lack of holding power, and fragmented logistics drain rural income.</a:t>
            </a:r>
          </a:p>
        </p:txBody>
      </p:sp>
      <p:sp>
        <p:nvSpPr>
          <p:cNvPr id="7" name="Rounded Rectangle 6"/>
          <p:cNvSpPr/>
          <p:nvPr/>
        </p:nvSpPr>
        <p:spPr>
          <a:xfrm>
            <a:off x="731520" y="173736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74519"/>
            <a:ext cx="4754880" cy="1737360"/>
          </a:xfrm>
          <a:prstGeom prst="rect">
            <a:avLst/>
          </a:prstGeom>
          <a:noFill/>
        </p:spPr>
        <p:txBody>
          <a:bodyPr wrap="square">
            <a:spAutoFit/>
          </a:bodyPr>
          <a:lstStyle/>
          <a:p>
            <a:pPr>
              <a:defRPr sz="1300" b="1">
                <a:solidFill>
                  <a:srgbClr val="F59E0B"/>
                </a:solidFill>
              </a:defRPr>
            </a:pPr>
            <a:r>
              <a:t>01  •  OPAQUE LOCAL MANDI CARTELS</a:t>
            </a:r>
          </a:p>
          <a:p>
            <a:pPr>
              <a:spcBef>
                <a:spcPts val="400"/>
              </a:spcBef>
              <a:defRPr sz="1100">
                <a:solidFill>
                  <a:srgbClr val="FFFFFF"/>
                </a:solidFill>
              </a:defRPr>
            </a:pPr>
            <a:r>
              <a:t>Village traders and local APMC cartels artificially suppress spot prices by 15% to 25%. Smallholders have zero real-time visibility into neighboring high-demand terminals.</a:t>
            </a:r>
          </a:p>
          <a:p>
            <a:pPr>
              <a:spcBef>
                <a:spcPts val="400"/>
              </a:spcBef>
              <a:defRPr sz="1000" b="1">
                <a:solidFill>
                  <a:srgbClr val="FDE68A"/>
                </a:solidFill>
              </a:defRPr>
            </a:pPr>
            <a:r>
              <a:t>⚠ Impact: ₹4,000–₹8,000 lost per metric ton sold locally.</a:t>
            </a:r>
          </a:p>
        </p:txBody>
      </p:sp>
      <p:sp>
        <p:nvSpPr>
          <p:cNvPr id="9" name="Rounded Rectangle 8"/>
          <p:cNvSpPr/>
          <p:nvPr/>
        </p:nvSpPr>
        <p:spPr>
          <a:xfrm>
            <a:off x="6217920" y="173736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74519"/>
            <a:ext cx="4754880" cy="1737360"/>
          </a:xfrm>
          <a:prstGeom prst="rect">
            <a:avLst/>
          </a:prstGeom>
          <a:noFill/>
        </p:spPr>
        <p:txBody>
          <a:bodyPr wrap="square">
            <a:spAutoFit/>
          </a:bodyPr>
          <a:lstStyle/>
          <a:p>
            <a:pPr>
              <a:defRPr sz="1300" b="1">
                <a:solidFill>
                  <a:srgbClr val="10B981"/>
                </a:solidFill>
              </a:defRPr>
            </a:pPr>
            <a:r>
              <a:t>02  •  ZERO HOLDING POWER &amp; SPOILAGE</a:t>
            </a:r>
          </a:p>
          <a:p>
            <a:pPr>
              <a:spcBef>
                <a:spcPts val="400"/>
              </a:spcBef>
              <a:defRPr sz="1100">
                <a:solidFill>
                  <a:srgbClr val="FFFFFF"/>
                </a:solidFill>
              </a:defRPr>
            </a:pPr>
            <a:r>
              <a:t>Highly perishable horticultural crops like Tomato, Onion, and Grapes degrade rapidly in tropical heat. Farmers are forced into same-day distress selling within 24–48 hours.</a:t>
            </a:r>
          </a:p>
          <a:p>
            <a:pPr>
              <a:spcBef>
                <a:spcPts val="400"/>
              </a:spcBef>
              <a:defRPr sz="1000" b="1">
                <a:solidFill>
                  <a:srgbClr val="FDE68A"/>
                </a:solidFill>
              </a:defRPr>
            </a:pPr>
            <a:r>
              <a:t>⚠ Impact: 100% loss risk forces immediate fire sales.</a:t>
            </a:r>
          </a:p>
        </p:txBody>
      </p:sp>
      <p:sp>
        <p:nvSpPr>
          <p:cNvPr id="11" name="Rounded Rectangle 10"/>
          <p:cNvSpPr/>
          <p:nvPr/>
        </p:nvSpPr>
        <p:spPr>
          <a:xfrm>
            <a:off x="731520" y="402336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160520"/>
            <a:ext cx="4754880" cy="1737360"/>
          </a:xfrm>
          <a:prstGeom prst="rect">
            <a:avLst/>
          </a:prstGeom>
          <a:noFill/>
        </p:spPr>
        <p:txBody>
          <a:bodyPr wrap="square">
            <a:spAutoFit/>
          </a:bodyPr>
          <a:lstStyle/>
          <a:p>
            <a:pPr>
              <a:defRPr sz="1300" b="1">
                <a:solidFill>
                  <a:srgbClr val="38BDF8"/>
                </a:solidFill>
              </a:defRPr>
            </a:pPr>
            <a:r>
              <a:t>03  •  SILOED SOLO TRANSPORT &amp; HIGH FREIGHT</a:t>
            </a:r>
          </a:p>
          <a:p>
            <a:pPr>
              <a:spcBef>
                <a:spcPts val="400"/>
              </a:spcBef>
              <a:defRPr sz="1100">
                <a:solidFill>
                  <a:srgbClr val="FFFFFF"/>
                </a:solidFill>
              </a:defRPr>
            </a:pPr>
            <a:r>
              <a:t>Smallholders dispatching 500–1,500 kg must hire an entire truck or pay extortionate solo rates (₹35–₹50/km). Freight alone consumes up to 40% of gross crop earnings.</a:t>
            </a:r>
          </a:p>
          <a:p>
            <a:pPr>
              <a:spcBef>
                <a:spcPts val="400"/>
              </a:spcBef>
              <a:defRPr sz="1000" b="1">
                <a:solidFill>
                  <a:srgbClr val="FDE68A"/>
                </a:solidFill>
              </a:defRPr>
            </a:pPr>
            <a:r>
              <a:t>⚠ Impact: Freight eats nearly half of farmer take-home profit.</a:t>
            </a:r>
          </a:p>
        </p:txBody>
      </p:sp>
      <p:sp>
        <p:nvSpPr>
          <p:cNvPr id="13" name="Rounded Rectangle 12"/>
          <p:cNvSpPr/>
          <p:nvPr/>
        </p:nvSpPr>
        <p:spPr>
          <a:xfrm>
            <a:off x="6217920" y="402336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160520"/>
            <a:ext cx="4754880" cy="1737360"/>
          </a:xfrm>
          <a:prstGeom prst="rect">
            <a:avLst/>
          </a:prstGeom>
          <a:noFill/>
        </p:spPr>
        <p:txBody>
          <a:bodyPr wrap="square">
            <a:spAutoFit/>
          </a:bodyPr>
          <a:lstStyle/>
          <a:p>
            <a:pPr>
              <a:defRPr sz="1300" b="1">
                <a:solidFill>
                  <a:srgbClr val="C084FC"/>
                </a:solidFill>
              </a:defRPr>
            </a:pPr>
            <a:r>
              <a:t>04  •  SEVERE INFORMATION ASYMMETRY</a:t>
            </a:r>
          </a:p>
          <a:p>
            <a:pPr>
              <a:spcBef>
                <a:spcPts val="400"/>
              </a:spcBef>
              <a:defRPr sz="1100">
                <a:solidFill>
                  <a:srgbClr val="FFFFFF"/>
                </a:solidFill>
              </a:defRPr>
            </a:pPr>
            <a:r>
              <a:t>Terminal price spreads between local mandis and major consumption centers (e.g., Nashik vs Mumbai Vashi) are discovered only after arriving at the market.</a:t>
            </a:r>
          </a:p>
          <a:p>
            <a:pPr>
              <a:spcBef>
                <a:spcPts val="400"/>
              </a:spcBef>
              <a:defRPr sz="1000" b="1">
                <a:solidFill>
                  <a:srgbClr val="FDE68A"/>
                </a:solidFill>
              </a:defRPr>
            </a:pPr>
            <a:r>
              <a:t>⚠ Impact: Middlemen capture 70% of terminal consumer price.</a:t>
            </a:r>
          </a:p>
        </p:txBody>
      </p:sp>
      <p:sp>
        <p:nvSpPr>
          <p:cNvPr id="15" name="Rounded Rectangle 14"/>
          <p:cNvSpPr/>
          <p:nvPr/>
        </p:nvSpPr>
        <p:spPr>
          <a:xfrm>
            <a:off x="731520" y="6172200"/>
            <a:ext cx="10698480" cy="41148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6199632"/>
            <a:ext cx="10332720" cy="365760"/>
          </a:xfrm>
          <a:prstGeom prst="rect">
            <a:avLst/>
          </a:prstGeom>
          <a:noFill/>
        </p:spPr>
        <p:txBody>
          <a:bodyPr wrap="none">
            <a:spAutoFit/>
          </a:bodyPr>
          <a:lstStyle/>
          <a:p>
            <a:pPr>
              <a:defRPr sz="1050" b="1">
                <a:solidFill>
                  <a:srgbClr val="34D399"/>
                </a:solidFill>
              </a:defRPr>
            </a:pPr>
            <a:r>
              <a:t>CRITICAL METRIC: 86% of Indian farmers are smallholders (&lt; 2 Ha) • ₹92,000 Crore lost annually in post-harvest distress</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PRODUCT VISION • THE HARVESTMITRA SOLUTION</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From Reactive Distress Selling to Proactive Profit Arbitrage</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HarvestMitra AI integrates price discovery, harvest simulation, and shared logistics into one workflow.</a:t>
            </a:r>
          </a:p>
        </p:txBody>
      </p:sp>
      <p:sp>
        <p:nvSpPr>
          <p:cNvPr id="7" name="Rounded Rectangle 6"/>
          <p:cNvSpPr/>
          <p:nvPr/>
        </p:nvSpPr>
        <p:spPr>
          <a:xfrm>
            <a:off x="731520" y="1737360"/>
            <a:ext cx="5120640" cy="45720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920240"/>
            <a:ext cx="4572000" cy="4206240"/>
          </a:xfrm>
          <a:prstGeom prst="rect">
            <a:avLst/>
          </a:prstGeom>
          <a:noFill/>
        </p:spPr>
        <p:txBody>
          <a:bodyPr wrap="square">
            <a:spAutoFit/>
          </a:bodyPr>
          <a:lstStyle/>
          <a:p>
            <a:pPr>
              <a:defRPr sz="1200" b="1">
                <a:solidFill>
                  <a:srgbClr val="F59E0B"/>
                </a:solidFill>
              </a:defRPr>
            </a:pPr>
            <a:r>
              <a:t>THE ARCHITECTURAL PARADIGM SHIFT</a:t>
            </a:r>
          </a:p>
          <a:p>
            <a:pPr>
              <a:spcBef>
                <a:spcPts val="800"/>
              </a:spcBef>
              <a:defRPr sz="1100" b="1">
                <a:solidFill>
                  <a:srgbClr val="EF4444"/>
                </a:solidFill>
              </a:defRPr>
            </a:pPr>
            <a:r>
              <a:t>THE OLD DISTRESS PARADIGM:</a:t>
            </a:r>
          </a:p>
          <a:p>
            <a:pPr>
              <a:defRPr sz="1050">
                <a:solidFill>
                  <a:srgbClr val="94A3B8"/>
                </a:solidFill>
              </a:defRPr>
            </a:pPr>
            <a:r>
              <a:t>Harvest in Isolation ➔ Forced Local Cartel Sale ➔ Solo Freight Extortion ➔ Net Financial Loss.</a:t>
            </a:r>
          </a:p>
          <a:p>
            <a:pPr>
              <a:spcBef>
                <a:spcPts val="1200"/>
              </a:spcBef>
              <a:defRPr sz="1100" b="1">
                <a:solidFill>
                  <a:srgbClr val="34D399"/>
                </a:solidFill>
              </a:defRPr>
            </a:pPr>
            <a:r>
              <a:t>THE HARVESTMITRA AI PARADIGM:</a:t>
            </a:r>
          </a:p>
          <a:p>
            <a:pPr>
              <a:spcBef>
                <a:spcPts val="400"/>
              </a:spcBef>
              <a:defRPr sz="1050">
                <a:solidFill>
                  <a:srgbClr val="FFFFFF"/>
                </a:solidFill>
              </a:defRPr>
            </a:pPr>
            <a:r>
              <a:t>1. Verified Land &amp; Multi-Crop Profile Sync (Agristack 7/12)</a:t>
            </a:r>
            <a:br/>
            <a:r>
              <a:t>2. Deterministic 3-Scenario Revenue Simulation (mathEngine)</a:t>
            </a:r>
            <a:br/>
            <a:r>
              <a:t>3. Direct Wholesale Procurement &amp; Collective FPO Pooling</a:t>
            </a:r>
            <a:br/>
            <a:r>
              <a:t>4. Highway Corridor Logistics Sharing with Digital QR Gate Pass</a:t>
            </a:r>
            <a:br/>
            <a:r>
              <a:t>5. Guaranteed +15% to +30% Net Take-Home Margin in Farmer's Pocket.</a:t>
            </a:r>
          </a:p>
        </p:txBody>
      </p:sp>
      <p:sp>
        <p:nvSpPr>
          <p:cNvPr id="9" name="Rounded Rectangle 8"/>
          <p:cNvSpPr/>
          <p:nvPr/>
        </p:nvSpPr>
        <p:spPr>
          <a:xfrm>
            <a:off x="6126480" y="1737360"/>
            <a:ext cx="5303520" cy="13716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874519"/>
            <a:ext cx="4937760" cy="1097280"/>
          </a:xfrm>
          <a:prstGeom prst="rect">
            <a:avLst/>
          </a:prstGeom>
          <a:noFill/>
        </p:spPr>
        <p:txBody>
          <a:bodyPr wrap="square">
            <a:spAutoFit/>
          </a:bodyPr>
          <a:lstStyle/>
          <a:p>
            <a:pPr>
              <a:defRPr sz="1200" b="1">
                <a:solidFill>
                  <a:srgbClr val="10B981"/>
                </a:solidFill>
              </a:defRPr>
            </a:pPr>
            <a:r>
              <a:t>PILLAR 1: ZERO-HALLUCINATION MATH ENGINE</a:t>
            </a:r>
          </a:p>
          <a:p>
            <a:pPr>
              <a:spcBef>
                <a:spcPts val="400"/>
              </a:spcBef>
              <a:defRPr sz="1050">
                <a:solidFill>
                  <a:srgbClr val="FFFFFF"/>
                </a:solidFill>
              </a:defRPr>
            </a:pPr>
            <a:r>
              <a:t>Generative AI never calculates financial projections. Our deterministic mathEngine.js calculates real tolls, diesel fuel, and APMC cess to guarantee 100% mathematical accuracy.</a:t>
            </a:r>
          </a:p>
        </p:txBody>
      </p:sp>
      <p:sp>
        <p:nvSpPr>
          <p:cNvPr id="11" name="Rounded Rectangle 10"/>
          <p:cNvSpPr/>
          <p:nvPr/>
        </p:nvSpPr>
        <p:spPr>
          <a:xfrm>
            <a:off x="6126480" y="3246120"/>
            <a:ext cx="5303520" cy="13716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3383279"/>
            <a:ext cx="4937760" cy="1097280"/>
          </a:xfrm>
          <a:prstGeom prst="rect">
            <a:avLst/>
          </a:prstGeom>
          <a:noFill/>
        </p:spPr>
        <p:txBody>
          <a:bodyPr wrap="square">
            <a:spAutoFit/>
          </a:bodyPr>
          <a:lstStyle/>
          <a:p>
            <a:pPr>
              <a:defRPr sz="1200" b="1">
                <a:solidFill>
                  <a:srgbClr val="F59E0B"/>
                </a:solidFill>
              </a:defRPr>
            </a:pPr>
            <a:r>
              <a:t>PILLAR 2: 106 APMC MANDI SCANNER</a:t>
            </a:r>
          </a:p>
          <a:p>
            <a:pPr>
              <a:spcBef>
                <a:spcPts val="400"/>
              </a:spcBef>
              <a:defRPr sz="1050">
                <a:solidFill>
                  <a:srgbClr val="FFFFFF"/>
                </a:solidFill>
              </a:defRPr>
            </a:pPr>
            <a:r>
              <a:t>Tracks 106 wholesale mandis across Maharashtra. Automated Simple Moving Average (SMA3 vs SMA7) trend detection identifies profitable arbitrage before market crashes.</a:t>
            </a:r>
          </a:p>
        </p:txBody>
      </p:sp>
      <p:sp>
        <p:nvSpPr>
          <p:cNvPr id="13" name="Rounded Rectangle 12"/>
          <p:cNvSpPr/>
          <p:nvPr/>
        </p:nvSpPr>
        <p:spPr>
          <a:xfrm>
            <a:off x="6126480" y="4754879"/>
            <a:ext cx="5303520" cy="13716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4892040"/>
            <a:ext cx="4937760" cy="1097280"/>
          </a:xfrm>
          <a:prstGeom prst="rect">
            <a:avLst/>
          </a:prstGeom>
          <a:noFill/>
        </p:spPr>
        <p:txBody>
          <a:bodyPr wrap="square">
            <a:spAutoFit/>
          </a:bodyPr>
          <a:lstStyle/>
          <a:p>
            <a:pPr>
              <a:defRPr sz="1200" b="1">
                <a:solidFill>
                  <a:srgbClr val="38BDF8"/>
                </a:solidFill>
              </a:defRPr>
            </a:pPr>
            <a:r>
              <a:t>PILLAR 3: SHARED RURAL COLD-CHAIN CORRIDOR</a:t>
            </a:r>
          </a:p>
          <a:p>
            <a:pPr>
              <a:spcBef>
                <a:spcPts val="400"/>
              </a:spcBef>
              <a:defRPr sz="1050">
                <a:solidFill>
                  <a:srgbClr val="FFFFFF"/>
                </a:solidFill>
              </a:defRPr>
            </a:pPr>
            <a:r>
              <a:t>Clusters smallholder farmers moving along identical highway routes (e.g. NH-160), slashing per-kg freight costs by 40% to 50% with verified escrow security.</a:t>
            </a:r>
          </a:p>
        </p:txBody>
      </p:sp>
    </p:spTree>
  </p:cSld>
  <p:clrMapOvr>
    <a:masterClrMapping/>
  </p:clrMapOvr>
  <mc:AlternateContent xmlns:mc="http://schemas.openxmlformats.org/markup-compatibility/2006">
    <mc:Choice xmlns:p14="http://schemas.microsoft.com/office/powerpoint/2010/main" Requires="p14">
      <p:transition spd="med" p14:dur="6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END-TO-END WORKFLOW • INTUITIVE 4-STEP PIPELINE</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How HarvestMitra AI Guides Every Harvest Decision</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From crop registration to verified APMC terminal delivery in minutes.</a:t>
            </a:r>
          </a:p>
        </p:txBody>
      </p:sp>
      <p:sp>
        <p:nvSpPr>
          <p:cNvPr id="7" name="Rounded Rectangle 6"/>
          <p:cNvSpPr/>
          <p:nvPr/>
        </p:nvSpPr>
        <p:spPr>
          <a:xfrm>
            <a:off x="73152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1874519"/>
            <a:ext cx="1097280" cy="32004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892807"/>
            <a:ext cx="1005840" cy="274320"/>
          </a:xfrm>
          <a:prstGeom prst="rect">
            <a:avLst/>
          </a:prstGeom>
          <a:noFill/>
        </p:spPr>
        <p:txBody>
          <a:bodyPr wrap="none">
            <a:spAutoFit/>
          </a:bodyPr>
          <a:lstStyle/>
          <a:p>
            <a:pPr>
              <a:defRPr sz="950" b="1">
                <a:solidFill>
                  <a:srgbClr val="10B981"/>
                </a:solidFill>
              </a:defRPr>
            </a:pPr>
            <a:r>
              <a:t>STEP 01</a:t>
            </a:r>
          </a:p>
        </p:txBody>
      </p:sp>
      <p:sp>
        <p:nvSpPr>
          <p:cNvPr id="10" name="TextBox 9"/>
          <p:cNvSpPr txBox="1"/>
          <p:nvPr/>
        </p:nvSpPr>
        <p:spPr>
          <a:xfrm>
            <a:off x="868680" y="2286000"/>
            <a:ext cx="2286000" cy="3200400"/>
          </a:xfrm>
          <a:prstGeom prst="rect">
            <a:avLst/>
          </a:prstGeom>
          <a:noFill/>
        </p:spPr>
        <p:txBody>
          <a:bodyPr wrap="square">
            <a:spAutoFit/>
          </a:bodyPr>
          <a:lstStyle/>
          <a:p>
            <a:pPr>
              <a:defRPr sz="1300" b="1">
                <a:solidFill>
                  <a:srgbClr val="FFFFFF"/>
                </a:solidFill>
              </a:defRPr>
            </a:pPr>
            <a:r>
              <a:t>Crop &amp; Land Sync</a:t>
            </a:r>
          </a:p>
          <a:p>
            <a:pPr>
              <a:spcBef>
                <a:spcPts val="600"/>
              </a:spcBef>
              <a:defRPr sz="1000">
                <a:solidFill>
                  <a:srgbClr val="94A3B8"/>
                </a:solidFill>
              </a:defRPr>
            </a:pPr>
            <a:r>
              <a:t>Farmer registers acreage or verifies 7/12 Agristack survey. System models crop maturity, expected harvest weight (kg), and perishability shelf life.</a:t>
            </a:r>
          </a:p>
          <a:p>
            <a:pPr>
              <a:spcBef>
                <a:spcPts val="1000"/>
              </a:spcBef>
              <a:defRPr sz="900" b="1">
                <a:solidFill>
                  <a:srgbClr val="FDE68A"/>
                </a:solidFill>
              </a:defRPr>
            </a:pPr>
            <a:r>
              <a:t>Input: Crop &amp; Acreage</a:t>
            </a:r>
            <a:br/>
            <a:r>
              <a:t>Output: Harvest Kg Profile</a:t>
            </a:r>
          </a:p>
        </p:txBody>
      </p:sp>
      <p:sp>
        <p:nvSpPr>
          <p:cNvPr id="11" name="Rounded Rectangle 10"/>
          <p:cNvSpPr/>
          <p:nvPr/>
        </p:nvSpPr>
        <p:spPr>
          <a:xfrm>
            <a:off x="342900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74519"/>
            <a:ext cx="1097280" cy="32004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892807"/>
            <a:ext cx="1005840" cy="274320"/>
          </a:xfrm>
          <a:prstGeom prst="rect">
            <a:avLst/>
          </a:prstGeom>
          <a:noFill/>
        </p:spPr>
        <p:txBody>
          <a:bodyPr wrap="none">
            <a:spAutoFit/>
          </a:bodyPr>
          <a:lstStyle/>
          <a:p>
            <a:pPr>
              <a:defRPr sz="950" b="1">
                <a:solidFill>
                  <a:srgbClr val="F59E0B"/>
                </a:solidFill>
              </a:defRPr>
            </a:pPr>
            <a:r>
              <a:t>STEP 02</a:t>
            </a:r>
          </a:p>
        </p:txBody>
      </p:sp>
      <p:sp>
        <p:nvSpPr>
          <p:cNvPr id="14" name="TextBox 13"/>
          <p:cNvSpPr txBox="1"/>
          <p:nvPr/>
        </p:nvSpPr>
        <p:spPr>
          <a:xfrm>
            <a:off x="3566160" y="2286000"/>
            <a:ext cx="2286000" cy="3200400"/>
          </a:xfrm>
          <a:prstGeom prst="rect">
            <a:avLst/>
          </a:prstGeom>
          <a:noFill/>
        </p:spPr>
        <p:txBody>
          <a:bodyPr wrap="square">
            <a:spAutoFit/>
          </a:bodyPr>
          <a:lstStyle/>
          <a:p>
            <a:pPr>
              <a:defRPr sz="1300" b="1">
                <a:solidFill>
                  <a:srgbClr val="FFFFFF"/>
                </a:solidFill>
              </a:defRPr>
            </a:pPr>
            <a:r>
              <a:t>3-Scenario Simulation</a:t>
            </a:r>
          </a:p>
          <a:p>
            <a:pPr>
              <a:spcBef>
                <a:spcPts val="600"/>
              </a:spcBef>
              <a:defRPr sz="1000">
                <a:solidFill>
                  <a:srgbClr val="94A3B8"/>
                </a:solidFill>
              </a:defRPr>
            </a:pPr>
            <a:r>
              <a:t>mathEngine evaluates: (A) Sell Local Today, (B) Hold in Cold Storage for 5–7 Days, or (C) Dispatch to Regional Terminal (Vashi/Pune APMC).</a:t>
            </a:r>
          </a:p>
          <a:p>
            <a:pPr>
              <a:spcBef>
                <a:spcPts val="1000"/>
              </a:spcBef>
              <a:defRPr sz="900" b="1">
                <a:solidFill>
                  <a:srgbClr val="FDE68A"/>
                </a:solidFill>
              </a:defRPr>
            </a:pPr>
            <a:r>
              <a:t>Input: Market Rates &amp; Costs</a:t>
            </a:r>
            <a:br/>
            <a:r>
              <a:t>Output: Ranked Net Profit</a:t>
            </a:r>
          </a:p>
        </p:txBody>
      </p:sp>
      <p:sp>
        <p:nvSpPr>
          <p:cNvPr id="15" name="Rounded Rectangle 14"/>
          <p:cNvSpPr/>
          <p:nvPr/>
        </p:nvSpPr>
        <p:spPr>
          <a:xfrm>
            <a:off x="612648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1874519"/>
            <a:ext cx="1097280" cy="32004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892807"/>
            <a:ext cx="1005840" cy="274320"/>
          </a:xfrm>
          <a:prstGeom prst="rect">
            <a:avLst/>
          </a:prstGeom>
          <a:noFill/>
        </p:spPr>
        <p:txBody>
          <a:bodyPr wrap="none">
            <a:spAutoFit/>
          </a:bodyPr>
          <a:lstStyle/>
          <a:p>
            <a:pPr>
              <a:defRPr sz="950" b="1">
                <a:solidFill>
                  <a:srgbClr val="C084FC"/>
                </a:solidFill>
              </a:defRPr>
            </a:pPr>
            <a:r>
              <a:t>STEP 03</a:t>
            </a:r>
          </a:p>
        </p:txBody>
      </p:sp>
      <p:sp>
        <p:nvSpPr>
          <p:cNvPr id="18" name="TextBox 17"/>
          <p:cNvSpPr txBox="1"/>
          <p:nvPr/>
        </p:nvSpPr>
        <p:spPr>
          <a:xfrm>
            <a:off x="6263640" y="2286000"/>
            <a:ext cx="2286000" cy="3200400"/>
          </a:xfrm>
          <a:prstGeom prst="rect">
            <a:avLst/>
          </a:prstGeom>
          <a:noFill/>
        </p:spPr>
        <p:txBody>
          <a:bodyPr wrap="square">
            <a:spAutoFit/>
          </a:bodyPr>
          <a:lstStyle/>
          <a:p>
            <a:pPr>
              <a:defRPr sz="1300" b="1">
                <a:solidFill>
                  <a:srgbClr val="FFFFFF"/>
                </a:solidFill>
              </a:defRPr>
            </a:pPr>
            <a:r>
              <a:t>Buyer &amp; FPO Match</a:t>
            </a:r>
          </a:p>
          <a:p>
            <a:pPr>
              <a:spcBef>
                <a:spcPts val="600"/>
              </a:spcBef>
              <a:defRPr sz="1000">
                <a:solidFill>
                  <a:srgbClr val="94A3B8"/>
                </a:solidFill>
              </a:defRPr>
            </a:pPr>
            <a:r>
              <a:t>Farmer matches with certified APMC procurement bids or aggregates with FPO collective lot to negotiate premium wholesale counter-quotations.</a:t>
            </a:r>
          </a:p>
          <a:p>
            <a:pPr>
              <a:spcBef>
                <a:spcPts val="1000"/>
              </a:spcBef>
              <a:defRPr sz="900" b="1">
                <a:solidFill>
                  <a:srgbClr val="FDE68A"/>
                </a:solidFill>
              </a:defRPr>
            </a:pPr>
            <a:r>
              <a:t>Input: Pooled Cargo Lot</a:t>
            </a:r>
            <a:br/>
            <a:r>
              <a:t>Output: Guaranteed B2B Bid</a:t>
            </a:r>
          </a:p>
        </p:txBody>
      </p:sp>
      <p:sp>
        <p:nvSpPr>
          <p:cNvPr id="19" name="Rounded Rectangle 18"/>
          <p:cNvSpPr/>
          <p:nvPr/>
        </p:nvSpPr>
        <p:spPr>
          <a:xfrm>
            <a:off x="882396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61120" y="1874519"/>
            <a:ext cx="1097280" cy="32004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1892807"/>
            <a:ext cx="1005840" cy="274320"/>
          </a:xfrm>
          <a:prstGeom prst="rect">
            <a:avLst/>
          </a:prstGeom>
          <a:noFill/>
        </p:spPr>
        <p:txBody>
          <a:bodyPr wrap="none">
            <a:spAutoFit/>
          </a:bodyPr>
          <a:lstStyle/>
          <a:p>
            <a:pPr>
              <a:defRPr sz="950" b="1">
                <a:solidFill>
                  <a:srgbClr val="38BDF8"/>
                </a:solidFill>
              </a:defRPr>
            </a:pPr>
            <a:r>
              <a:t>STEP 04</a:t>
            </a:r>
          </a:p>
        </p:txBody>
      </p:sp>
      <p:sp>
        <p:nvSpPr>
          <p:cNvPr id="22" name="TextBox 21"/>
          <p:cNvSpPr txBox="1"/>
          <p:nvPr/>
        </p:nvSpPr>
        <p:spPr>
          <a:xfrm>
            <a:off x="8961120" y="2286000"/>
            <a:ext cx="2286000" cy="3200400"/>
          </a:xfrm>
          <a:prstGeom prst="rect">
            <a:avLst/>
          </a:prstGeom>
          <a:noFill/>
        </p:spPr>
        <p:txBody>
          <a:bodyPr wrap="square">
            <a:spAutoFit/>
          </a:bodyPr>
          <a:lstStyle/>
          <a:p>
            <a:pPr>
              <a:defRPr sz="1300" b="1">
                <a:solidFill>
                  <a:srgbClr val="FFFFFF"/>
                </a:solidFill>
              </a:defRPr>
            </a:pPr>
            <a:r>
              <a:t>Shared Transit &amp; Pass</a:t>
            </a:r>
          </a:p>
          <a:p>
            <a:pPr>
              <a:spcBef>
                <a:spcPts val="600"/>
              </a:spcBef>
              <a:defRPr sz="1000">
                <a:solidFill>
                  <a:srgbClr val="94A3B8"/>
                </a:solidFill>
              </a:defRPr>
            </a:pPr>
            <a:r>
              <a:t>System books shared truck capacity along highway corridor. Issues digital QR Gate Pass, locks freight fare in escrow, and triggers delivery rating.</a:t>
            </a:r>
          </a:p>
          <a:p>
            <a:pPr>
              <a:spcBef>
                <a:spcPts val="1000"/>
              </a:spcBef>
              <a:defRPr sz="900" b="1">
                <a:solidFill>
                  <a:srgbClr val="FDE68A"/>
                </a:solidFill>
              </a:defRPr>
            </a:pPr>
            <a:r>
              <a:t>Input: Freight Booking</a:t>
            </a:r>
            <a:br/>
            <a:r>
              <a:t>Output: Verified Mandi Pass</a:t>
            </a:r>
          </a:p>
        </p:txBody>
      </p:sp>
      <p:sp>
        <p:nvSpPr>
          <p:cNvPr id="23" name="Rounded Rectangle 22"/>
          <p:cNvSpPr/>
          <p:nvPr/>
        </p:nvSpPr>
        <p:spPr>
          <a:xfrm>
            <a:off x="731520" y="5852160"/>
            <a:ext cx="10698480" cy="54864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897880"/>
            <a:ext cx="10332720" cy="457200"/>
          </a:xfrm>
          <a:prstGeom prst="rect">
            <a:avLst/>
          </a:prstGeom>
          <a:noFill/>
        </p:spPr>
        <p:txBody>
          <a:bodyPr wrap="none">
            <a:spAutoFit/>
          </a:bodyPr>
          <a:lstStyle/>
          <a:p>
            <a:pPr>
              <a:defRPr sz="1100" b="1">
                <a:solidFill>
                  <a:srgbClr val="34D399"/>
                </a:solidFill>
              </a:defRPr>
            </a:pPr>
            <a:r>
              <a:t>WORKFLOW RESULT: Transparent financial comparison + Guaranteed freight pooling = 15% to 30% additional net margin directly to the farmer.</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MULTI-STAKEHOLDER ARCHITECTURE • COLLABORATIVE NETWORK</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Meet the Ecosystem: 5 Dedicated Stakeholder Roles</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A connected platform uniting farmers, FPO collectives, APMC mandis, transporters, and market administrators.</a:t>
            </a:r>
          </a:p>
        </p:txBody>
      </p:sp>
      <p:sp>
        <p:nvSpPr>
          <p:cNvPr id="7" name="Rounded Rectangle 6"/>
          <p:cNvSpPr/>
          <p:nvPr/>
        </p:nvSpPr>
        <p:spPr>
          <a:xfrm>
            <a:off x="731520" y="1737360"/>
            <a:ext cx="205740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874519"/>
            <a:ext cx="1874519" cy="59436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1901952"/>
            <a:ext cx="1828800" cy="548640"/>
          </a:xfrm>
          <a:prstGeom prst="rect">
            <a:avLst/>
          </a:prstGeom>
          <a:noFill/>
        </p:spPr>
        <p:txBody>
          <a:bodyPr wrap="square">
            <a:spAutoFit/>
          </a:bodyPr>
          <a:lstStyle/>
          <a:p>
            <a:pPr>
              <a:defRPr sz="1100" b="1">
                <a:solidFill>
                  <a:srgbClr val="10B981"/>
                </a:solidFill>
              </a:defRPr>
            </a:pPr>
            <a:r>
              <a:t>FARMER</a:t>
            </a:r>
          </a:p>
          <a:p>
            <a:pPr>
              <a:defRPr sz="850">
                <a:solidFill>
                  <a:srgbClr val="94A3B8"/>
                </a:solidFill>
              </a:defRPr>
            </a:pPr>
            <a:r>
              <a:t>Owner: Sayali Kulkarni</a:t>
            </a:r>
          </a:p>
        </p:txBody>
      </p:sp>
      <p:sp>
        <p:nvSpPr>
          <p:cNvPr id="10" name="TextBox 9"/>
          <p:cNvSpPr txBox="1"/>
          <p:nvPr/>
        </p:nvSpPr>
        <p:spPr>
          <a:xfrm>
            <a:off x="822960" y="2560320"/>
            <a:ext cx="1874519" cy="3474720"/>
          </a:xfrm>
          <a:prstGeom prst="rect">
            <a:avLst/>
          </a:prstGeom>
          <a:noFill/>
        </p:spPr>
        <p:txBody>
          <a:bodyPr wrap="square">
            <a:spAutoFit/>
          </a:bodyPr>
          <a:lstStyle/>
          <a:p>
            <a:pPr>
              <a:spcBef>
                <a:spcPts val="400"/>
              </a:spcBef>
              <a:defRPr sz="900">
                <a:solidFill>
                  <a:srgbClr val="FFFFFF"/>
                </a:solidFill>
              </a:defRPr>
            </a:pPr>
            <a:r>
              <a:t>• Universal Guest Mode (zero login wall)</a:t>
            </a:r>
          </a:p>
          <a:p>
            <a:pPr>
              <a:spcBef>
                <a:spcPts val="400"/>
              </a:spcBef>
              <a:defRPr sz="900">
                <a:solidFill>
                  <a:srgbClr val="FFFFFF"/>
                </a:solidFill>
              </a:defRPr>
            </a:pPr>
            <a:r>
              <a:t>• Multi-Crop Profile &amp; Acreage Donut Chart</a:t>
            </a:r>
          </a:p>
          <a:p>
            <a:pPr>
              <a:spcBef>
                <a:spcPts val="400"/>
              </a:spcBef>
              <a:defRPr sz="900">
                <a:solidFill>
                  <a:srgbClr val="FFFFFF"/>
                </a:solidFill>
              </a:defRPr>
            </a:pPr>
            <a:r>
              <a:t>• 3-Scenario Harvest Profit Simulator</a:t>
            </a:r>
          </a:p>
          <a:p>
            <a:pPr>
              <a:spcBef>
                <a:spcPts val="400"/>
              </a:spcBef>
              <a:defRPr sz="900">
                <a:solidFill>
                  <a:srgbClr val="FFFFFF"/>
                </a:solidFill>
              </a:defRPr>
            </a:pPr>
            <a:r>
              <a:t>• 1-Click Loan-Ready A4 Printable Report</a:t>
            </a:r>
          </a:p>
          <a:p>
            <a:pPr>
              <a:spcBef>
                <a:spcPts val="400"/>
              </a:spcBef>
              <a:defRPr sz="900">
                <a:solidFill>
                  <a:srgbClr val="FFFFFF"/>
                </a:solidFill>
              </a:defRPr>
            </a:pPr>
            <a:r>
              <a:t>• Agristack 7/12 Land Verification</a:t>
            </a:r>
          </a:p>
        </p:txBody>
      </p:sp>
      <p:sp>
        <p:nvSpPr>
          <p:cNvPr id="11" name="Rounded Rectangle 10"/>
          <p:cNvSpPr/>
          <p:nvPr/>
        </p:nvSpPr>
        <p:spPr>
          <a:xfrm>
            <a:off x="2880360" y="1737360"/>
            <a:ext cx="205740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71800" y="1874519"/>
            <a:ext cx="1874519" cy="59436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0088" y="1901952"/>
            <a:ext cx="1828800" cy="548640"/>
          </a:xfrm>
          <a:prstGeom prst="rect">
            <a:avLst/>
          </a:prstGeom>
          <a:noFill/>
        </p:spPr>
        <p:txBody>
          <a:bodyPr wrap="square">
            <a:spAutoFit/>
          </a:bodyPr>
          <a:lstStyle/>
          <a:p>
            <a:pPr>
              <a:defRPr sz="1100" b="1">
                <a:solidFill>
                  <a:srgbClr val="F59E0B"/>
                </a:solidFill>
              </a:defRPr>
            </a:pPr>
            <a:r>
              <a:t>FPO LEADER</a:t>
            </a:r>
          </a:p>
          <a:p>
            <a:pPr>
              <a:defRPr sz="850">
                <a:solidFill>
                  <a:srgbClr val="94A3B8"/>
                </a:solidFill>
              </a:defRPr>
            </a:pPr>
            <a:r>
              <a:t>Owner: Mihir Jadav</a:t>
            </a:r>
          </a:p>
        </p:txBody>
      </p:sp>
      <p:sp>
        <p:nvSpPr>
          <p:cNvPr id="14" name="TextBox 13"/>
          <p:cNvSpPr txBox="1"/>
          <p:nvPr/>
        </p:nvSpPr>
        <p:spPr>
          <a:xfrm>
            <a:off x="2971800" y="2560320"/>
            <a:ext cx="1874519" cy="3474720"/>
          </a:xfrm>
          <a:prstGeom prst="rect">
            <a:avLst/>
          </a:prstGeom>
          <a:noFill/>
        </p:spPr>
        <p:txBody>
          <a:bodyPr wrap="square">
            <a:spAutoFit/>
          </a:bodyPr>
          <a:lstStyle/>
          <a:p>
            <a:pPr>
              <a:spcBef>
                <a:spcPts val="400"/>
              </a:spcBef>
              <a:defRPr sz="900">
                <a:solidFill>
                  <a:srgbClr val="FFFFFF"/>
                </a:solidFill>
              </a:defRPr>
            </a:pPr>
            <a:r>
              <a:t>• 45+ Member Farmer Roster &amp; Privacy Isolation</a:t>
            </a:r>
          </a:p>
          <a:p>
            <a:pPr>
              <a:spcBef>
                <a:spcPts val="400"/>
              </a:spcBef>
              <a:defRPr sz="900">
                <a:solidFill>
                  <a:srgbClr val="FFFFFF"/>
                </a:solidFill>
              </a:defRPr>
            </a:pPr>
            <a:r>
              <a:t>• Collective Uncommitted Crop Lot Aggregation</a:t>
            </a:r>
          </a:p>
          <a:p>
            <a:pPr>
              <a:spcBef>
                <a:spcPts val="400"/>
              </a:spcBef>
              <a:defRPr sz="900">
                <a:solidFill>
                  <a:srgbClr val="FFFFFF"/>
                </a:solidFill>
              </a:defRPr>
            </a:pPr>
            <a:r>
              <a:t>• Bulk Mandi Procurement Counter-Quotations</a:t>
            </a:r>
          </a:p>
          <a:p>
            <a:pPr>
              <a:spcBef>
                <a:spcPts val="400"/>
              </a:spcBef>
              <a:defRPr sz="900">
                <a:solidFill>
                  <a:srgbClr val="FFFFFF"/>
                </a:solidFill>
              </a:defRPr>
            </a:pPr>
            <a:r>
              <a:t>• Transparent Proportional Payout Ledger</a:t>
            </a:r>
          </a:p>
          <a:p>
            <a:pPr>
              <a:spcBef>
                <a:spcPts val="400"/>
              </a:spcBef>
              <a:defRPr sz="900">
                <a:solidFill>
                  <a:srgbClr val="FFFFFF"/>
                </a:solidFill>
              </a:defRPr>
            </a:pPr>
            <a:r>
              <a:t>• Bulk Highway Transport Scheduling</a:t>
            </a:r>
          </a:p>
        </p:txBody>
      </p:sp>
      <p:sp>
        <p:nvSpPr>
          <p:cNvPr id="15" name="Rounded Rectangle 14"/>
          <p:cNvSpPr/>
          <p:nvPr/>
        </p:nvSpPr>
        <p:spPr>
          <a:xfrm>
            <a:off x="5029200" y="1737360"/>
            <a:ext cx="205740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120640" y="1874519"/>
            <a:ext cx="1874519" cy="59436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38928" y="1901952"/>
            <a:ext cx="1828800" cy="548640"/>
          </a:xfrm>
          <a:prstGeom prst="rect">
            <a:avLst/>
          </a:prstGeom>
          <a:noFill/>
        </p:spPr>
        <p:txBody>
          <a:bodyPr wrap="square">
            <a:spAutoFit/>
          </a:bodyPr>
          <a:lstStyle/>
          <a:p>
            <a:pPr>
              <a:defRPr sz="1100" b="1">
                <a:solidFill>
                  <a:srgbClr val="C084FC"/>
                </a:solidFill>
              </a:defRPr>
            </a:pPr>
            <a:r>
              <a:t>MANDI OFFICIAL</a:t>
            </a:r>
          </a:p>
          <a:p>
            <a:pPr>
              <a:defRPr sz="850">
                <a:solidFill>
                  <a:srgbClr val="94A3B8"/>
                </a:solidFill>
              </a:defRPr>
            </a:pPr>
            <a:r>
              <a:t>Owner: Mihir Jadav</a:t>
            </a:r>
          </a:p>
        </p:txBody>
      </p:sp>
      <p:sp>
        <p:nvSpPr>
          <p:cNvPr id="18" name="TextBox 17"/>
          <p:cNvSpPr txBox="1"/>
          <p:nvPr/>
        </p:nvSpPr>
        <p:spPr>
          <a:xfrm>
            <a:off x="5120640" y="2560320"/>
            <a:ext cx="1874519" cy="3474720"/>
          </a:xfrm>
          <a:prstGeom prst="rect">
            <a:avLst/>
          </a:prstGeom>
          <a:noFill/>
        </p:spPr>
        <p:txBody>
          <a:bodyPr wrap="square">
            <a:spAutoFit/>
          </a:bodyPr>
          <a:lstStyle/>
          <a:p>
            <a:pPr>
              <a:spcBef>
                <a:spcPts val="400"/>
              </a:spcBef>
              <a:defRPr sz="900">
                <a:solidFill>
                  <a:srgbClr val="FFFFFF"/>
                </a:solidFill>
              </a:defRPr>
            </a:pPr>
            <a:r>
              <a:t>• Real-Time District Farmer Arrivals Feed</a:t>
            </a:r>
          </a:p>
          <a:p>
            <a:pPr>
              <a:spcBef>
                <a:spcPts val="400"/>
              </a:spcBef>
              <a:defRPr sz="900">
                <a:solidFill>
                  <a:srgbClr val="FFFFFF"/>
                </a:solidFill>
              </a:defRPr>
            </a:pPr>
            <a:r>
              <a:t>• Direct Procurement Counter-Quotation Offers</a:t>
            </a:r>
          </a:p>
          <a:p>
            <a:pPr>
              <a:spcBef>
                <a:spcPts val="400"/>
              </a:spcBef>
              <a:defRPr sz="900">
                <a:solidFill>
                  <a:srgbClr val="FFFFFF"/>
                </a:solidFill>
              </a:defRPr>
            </a:pPr>
            <a:r>
              <a:t>• Official APMC License &amp; Weighbridge Record</a:t>
            </a:r>
          </a:p>
          <a:p>
            <a:pPr>
              <a:spcBef>
                <a:spcPts val="400"/>
              </a:spcBef>
              <a:defRPr sz="900">
                <a:solidFill>
                  <a:srgbClr val="FFFFFF"/>
                </a:solidFill>
              </a:defRPr>
            </a:pPr>
            <a:r>
              <a:t>• SMS &amp; WhatsApp Booking Notifications</a:t>
            </a:r>
          </a:p>
          <a:p>
            <a:pPr>
              <a:spcBef>
                <a:spcPts val="400"/>
              </a:spcBef>
              <a:defRPr sz="900">
                <a:solidFill>
                  <a:srgbClr val="FFFFFF"/>
                </a:solidFill>
              </a:defRPr>
            </a:pPr>
            <a:r>
              <a:t>• e-NAM Electronic Trade Record Alignment</a:t>
            </a:r>
          </a:p>
        </p:txBody>
      </p:sp>
      <p:sp>
        <p:nvSpPr>
          <p:cNvPr id="19" name="Rounded Rectangle 18"/>
          <p:cNvSpPr/>
          <p:nvPr/>
        </p:nvSpPr>
        <p:spPr>
          <a:xfrm>
            <a:off x="7178040" y="1737360"/>
            <a:ext cx="205740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269480" y="1874519"/>
            <a:ext cx="1874519" cy="59436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87768" y="1901952"/>
            <a:ext cx="1828800" cy="548640"/>
          </a:xfrm>
          <a:prstGeom prst="rect">
            <a:avLst/>
          </a:prstGeom>
          <a:noFill/>
        </p:spPr>
        <p:txBody>
          <a:bodyPr wrap="square">
            <a:spAutoFit/>
          </a:bodyPr>
          <a:lstStyle/>
          <a:p>
            <a:pPr>
              <a:defRPr sz="1100" b="1">
                <a:solidFill>
                  <a:srgbClr val="38BDF8"/>
                </a:solidFill>
              </a:defRPr>
            </a:pPr>
            <a:r>
              <a:t>TRANSPORTER</a:t>
            </a:r>
          </a:p>
          <a:p>
            <a:pPr>
              <a:defRPr sz="850">
                <a:solidFill>
                  <a:srgbClr val="94A3B8"/>
                </a:solidFill>
              </a:defRPr>
            </a:pPr>
            <a:r>
              <a:t>Owner: Prashant Warule</a:t>
            </a:r>
          </a:p>
        </p:txBody>
      </p:sp>
      <p:sp>
        <p:nvSpPr>
          <p:cNvPr id="22" name="TextBox 21"/>
          <p:cNvSpPr txBox="1"/>
          <p:nvPr/>
        </p:nvSpPr>
        <p:spPr>
          <a:xfrm>
            <a:off x="7269480" y="2560320"/>
            <a:ext cx="1874519" cy="3474720"/>
          </a:xfrm>
          <a:prstGeom prst="rect">
            <a:avLst/>
          </a:prstGeom>
          <a:noFill/>
        </p:spPr>
        <p:txBody>
          <a:bodyPr wrap="square">
            <a:spAutoFit/>
          </a:bodyPr>
          <a:lstStyle/>
          <a:p>
            <a:pPr>
              <a:spcBef>
                <a:spcPts val="400"/>
              </a:spcBef>
              <a:defRPr sz="900">
                <a:solidFill>
                  <a:srgbClr val="FFFFFF"/>
                </a:solidFill>
              </a:defRPr>
            </a:pPr>
            <a:r>
              <a:t>• Real-Time Open Highway Cargo Matching</a:t>
            </a:r>
          </a:p>
          <a:p>
            <a:pPr>
              <a:spcBef>
                <a:spcPts val="400"/>
              </a:spcBef>
              <a:defRPr sz="900">
                <a:solidFill>
                  <a:srgbClr val="FFFFFF"/>
                </a:solidFill>
              </a:defRPr>
            </a:pPr>
            <a:r>
              <a:t>• Single-Trip Active Driver Integrity Lock</a:t>
            </a:r>
          </a:p>
          <a:p>
            <a:pPr>
              <a:spcBef>
                <a:spcPts val="400"/>
              </a:spcBef>
              <a:defRPr sz="900">
                <a:solidFill>
                  <a:srgbClr val="FFFFFF"/>
                </a:solidFill>
              </a:defRPr>
            </a:pPr>
            <a:r>
              <a:t>• Digital Mandi Gate Pass with Official QR Seal</a:t>
            </a:r>
          </a:p>
          <a:p>
            <a:pPr>
              <a:spcBef>
                <a:spcPts val="400"/>
              </a:spcBef>
              <a:defRPr sz="900">
                <a:solidFill>
                  <a:srgbClr val="FFFFFF"/>
                </a:solidFill>
              </a:defRPr>
            </a:pPr>
            <a:r>
              <a:t>• NH-160 Corridor Route Playback Simulator</a:t>
            </a:r>
          </a:p>
          <a:p>
            <a:pPr>
              <a:spcBef>
                <a:spcPts val="400"/>
              </a:spcBef>
              <a:defRPr sz="900">
                <a:solidFill>
                  <a:srgbClr val="FFFFFF"/>
                </a:solidFill>
              </a:defRPr>
            </a:pPr>
            <a:r>
              <a:t>• UPI Freight Escrow &amp; 5-Star Driver Rating</a:t>
            </a:r>
          </a:p>
        </p:txBody>
      </p:sp>
      <p:sp>
        <p:nvSpPr>
          <p:cNvPr id="23" name="Rounded Rectangle 22"/>
          <p:cNvSpPr/>
          <p:nvPr/>
        </p:nvSpPr>
        <p:spPr>
          <a:xfrm>
            <a:off x="9326880" y="1737360"/>
            <a:ext cx="205740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418320" y="1874519"/>
            <a:ext cx="1874519" cy="594360"/>
          </a:xfrm>
          <a:prstGeom prst="roundRect">
            <a:avLst/>
          </a:prstGeom>
          <a:solidFill>
            <a:srgbClr val="062C2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36608" y="1901952"/>
            <a:ext cx="1828800" cy="548640"/>
          </a:xfrm>
          <a:prstGeom prst="rect">
            <a:avLst/>
          </a:prstGeom>
          <a:noFill/>
        </p:spPr>
        <p:txBody>
          <a:bodyPr wrap="square">
            <a:spAutoFit/>
          </a:bodyPr>
          <a:lstStyle/>
          <a:p>
            <a:pPr>
              <a:defRPr sz="1100" b="1">
                <a:solidFill>
                  <a:srgbClr val="FFFFFF"/>
                </a:solidFill>
              </a:defRPr>
            </a:pPr>
            <a:r>
              <a:t>APMC ADMIN</a:t>
            </a:r>
          </a:p>
          <a:p>
            <a:pPr>
              <a:defRPr sz="850">
                <a:solidFill>
                  <a:srgbClr val="94A3B8"/>
                </a:solidFill>
              </a:defRPr>
            </a:pPr>
            <a:r>
              <a:t>Owner: Mihir Jadav</a:t>
            </a:r>
          </a:p>
        </p:txBody>
      </p:sp>
      <p:sp>
        <p:nvSpPr>
          <p:cNvPr id="26" name="TextBox 25"/>
          <p:cNvSpPr txBox="1"/>
          <p:nvPr/>
        </p:nvSpPr>
        <p:spPr>
          <a:xfrm>
            <a:off x="9418320" y="2560320"/>
            <a:ext cx="1874519" cy="3474720"/>
          </a:xfrm>
          <a:prstGeom prst="rect">
            <a:avLst/>
          </a:prstGeom>
          <a:noFill/>
        </p:spPr>
        <p:txBody>
          <a:bodyPr wrap="square">
            <a:spAutoFit/>
          </a:bodyPr>
          <a:lstStyle/>
          <a:p>
            <a:pPr>
              <a:spcBef>
                <a:spcPts val="400"/>
              </a:spcBef>
              <a:defRPr sz="900">
                <a:solidFill>
                  <a:srgbClr val="FFFFFF"/>
                </a:solidFill>
              </a:defRPr>
            </a:pPr>
            <a:r>
              <a:t>• Strict Role-Based Access Control (RBAC)</a:t>
            </a:r>
          </a:p>
          <a:p>
            <a:pPr>
              <a:spcBef>
                <a:spcPts val="400"/>
              </a:spcBef>
              <a:defRPr sz="900">
                <a:solidFill>
                  <a:srgbClr val="FFFFFF"/>
                </a:solidFill>
              </a:defRPr>
            </a:pPr>
            <a:r>
              <a:t>• 106 APMC Mandi Benchmark Price Governance</a:t>
            </a:r>
          </a:p>
          <a:p>
            <a:pPr>
              <a:spcBef>
                <a:spcPts val="400"/>
              </a:spcBef>
              <a:defRPr sz="900">
                <a:solidFill>
                  <a:srgbClr val="FFFFFF"/>
                </a:solidFill>
              </a:defRPr>
            </a:pPr>
            <a:r>
              <a:t>• Central Government Scheme Management</a:t>
            </a:r>
          </a:p>
          <a:p>
            <a:pPr>
              <a:spcBef>
                <a:spcPts val="400"/>
              </a:spcBef>
              <a:defRPr sz="900">
                <a:solidFill>
                  <a:srgbClr val="FFFFFF"/>
                </a:solidFill>
              </a:defRPr>
            </a:pPr>
            <a:r>
              <a:t>• User Status Moderation (Active/Suspended)</a:t>
            </a:r>
          </a:p>
          <a:p>
            <a:pPr>
              <a:spcBef>
                <a:spcPts val="400"/>
              </a:spcBef>
              <a:defRPr sz="900">
                <a:solidFill>
                  <a:srgbClr val="FFFFFF"/>
                </a:solidFill>
              </a:defRPr>
            </a:pPr>
            <a:r>
              <a:t>• System-Wide Audit &amp; Transaction Logging</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SYSTEM ARCHITECTURE • MODERN FULL-STACK ENGINEERING</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Production-Engineered Architectural Blueprint</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Modern web standards, zero-hallucination computation, and strict role-based data isolation.</a:t>
            </a:r>
          </a:p>
        </p:txBody>
      </p:sp>
      <p:sp>
        <p:nvSpPr>
          <p:cNvPr id="7" name="Rounded Rectangle 6"/>
          <p:cNvSpPr/>
          <p:nvPr/>
        </p:nvSpPr>
        <p:spPr>
          <a:xfrm>
            <a:off x="731520" y="1737360"/>
            <a:ext cx="10698480" cy="105156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1874519"/>
            <a:ext cx="2103120" cy="77724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2011680" cy="685800"/>
          </a:xfrm>
          <a:prstGeom prst="rect">
            <a:avLst/>
          </a:prstGeom>
          <a:noFill/>
        </p:spPr>
        <p:txBody>
          <a:bodyPr wrap="square">
            <a:spAutoFit/>
          </a:bodyPr>
          <a:lstStyle/>
          <a:p>
            <a:pPr>
              <a:defRPr sz="1000" b="1">
                <a:solidFill>
                  <a:srgbClr val="10B981"/>
                </a:solidFill>
              </a:defRPr>
            </a:pPr>
            <a:r>
              <a:t>PRESENTATION TIER</a:t>
            </a:r>
          </a:p>
        </p:txBody>
      </p:sp>
      <p:sp>
        <p:nvSpPr>
          <p:cNvPr id="10" name="TextBox 9"/>
          <p:cNvSpPr txBox="1"/>
          <p:nvPr/>
        </p:nvSpPr>
        <p:spPr>
          <a:xfrm>
            <a:off x="3108960" y="1828800"/>
            <a:ext cx="8138160" cy="914400"/>
          </a:xfrm>
          <a:prstGeom prst="rect">
            <a:avLst/>
          </a:prstGeom>
          <a:noFill/>
        </p:spPr>
        <p:txBody>
          <a:bodyPr wrap="square">
            <a:spAutoFit/>
          </a:bodyPr>
          <a:lstStyle/>
          <a:p>
            <a:pPr>
              <a:defRPr sz="1100" b="1">
                <a:solidFill>
                  <a:srgbClr val="FFFFFF"/>
                </a:solidFill>
              </a:defRPr>
            </a:pPr>
            <a:r>
              <a:t>Frontend UI / SPA Client (React 19, Vite 8, TailwindCSS v4)</a:t>
            </a:r>
          </a:p>
          <a:p>
            <a:pPr>
              <a:spcBef>
                <a:spcPts val="200"/>
              </a:spcBef>
              <a:defRPr sz="850">
                <a:solidFill>
                  <a:srgbClr val="94A3B8"/>
                </a:solidFill>
              </a:defRPr>
            </a:pPr>
            <a:r>
              <a:t>• React 19 SPA with client routing (React Router v7) &amp; strict ProtectedRoute guards</a:t>
            </a:r>
            <a:br/>
            <a:r>
              <a:t>• Recharts dynamic multi-crop acreage donut chart &amp; 14-day price trajectory analytics</a:t>
            </a:r>
            <a:br/>
            <a:r>
              <a:t>• Leaflet.js interactive NH-160 highway logistics corridor &amp; driver telemetry radar</a:t>
            </a:r>
            <a:br/>
            <a:r>
              <a:t>• Native Web Speech API for multilingual voice STT recognition &amp; TTS audio playback</a:t>
            </a:r>
          </a:p>
        </p:txBody>
      </p:sp>
      <p:sp>
        <p:nvSpPr>
          <p:cNvPr id="11" name="Rounded Rectangle 10"/>
          <p:cNvSpPr/>
          <p:nvPr/>
        </p:nvSpPr>
        <p:spPr>
          <a:xfrm>
            <a:off x="731520" y="2880360"/>
            <a:ext cx="10698480" cy="105156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68680" y="3017520"/>
            <a:ext cx="2103120" cy="77724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063240"/>
            <a:ext cx="2011680" cy="685800"/>
          </a:xfrm>
          <a:prstGeom prst="rect">
            <a:avLst/>
          </a:prstGeom>
          <a:noFill/>
        </p:spPr>
        <p:txBody>
          <a:bodyPr wrap="square">
            <a:spAutoFit/>
          </a:bodyPr>
          <a:lstStyle/>
          <a:p>
            <a:pPr>
              <a:defRPr sz="1000" b="1">
                <a:solidFill>
                  <a:srgbClr val="F59E0B"/>
                </a:solidFill>
              </a:defRPr>
            </a:pPr>
            <a:r>
              <a:t>APPLICATION API TIER</a:t>
            </a:r>
          </a:p>
        </p:txBody>
      </p:sp>
      <p:sp>
        <p:nvSpPr>
          <p:cNvPr id="14" name="TextBox 13"/>
          <p:cNvSpPr txBox="1"/>
          <p:nvPr/>
        </p:nvSpPr>
        <p:spPr>
          <a:xfrm>
            <a:off x="3108960" y="2971800"/>
            <a:ext cx="8138160" cy="914400"/>
          </a:xfrm>
          <a:prstGeom prst="rect">
            <a:avLst/>
          </a:prstGeom>
          <a:noFill/>
        </p:spPr>
        <p:txBody>
          <a:bodyPr wrap="square">
            <a:spAutoFit/>
          </a:bodyPr>
          <a:lstStyle/>
          <a:p>
            <a:pPr>
              <a:defRPr sz="1100" b="1">
                <a:solidFill>
                  <a:srgbClr val="FFFFFF"/>
                </a:solidFill>
              </a:defRPr>
            </a:pPr>
            <a:r>
              <a:t>Backend API Gateway (Node.js 20, Express 5.3)</a:t>
            </a:r>
          </a:p>
          <a:p>
            <a:pPr>
              <a:spcBef>
                <a:spcPts val="200"/>
              </a:spcBef>
              <a:defRPr sz="850">
                <a:solidFill>
                  <a:srgbClr val="94A3B8"/>
                </a:solidFill>
              </a:defRPr>
            </a:pPr>
            <a:r>
              <a:t>• Centralized REST API router (App.js) with JWT authentication &amp; role-based middleware</a:t>
            </a:r>
            <a:br/>
            <a:r>
              <a:t>• mathEngine.js deterministic profit engine (Zero-hallucination toll, fuel &amp; cess deduction)</a:t>
            </a:r>
            <a:br/>
            <a:r>
              <a:t>• Hybrid AI orchestration: Google Gemini API with sub-15ms deterministic fallback engine</a:t>
            </a:r>
            <a:br/>
            <a:r>
              <a:t>• Centralized error handling, input schema sanitization, and session token lifecycle</a:t>
            </a:r>
          </a:p>
        </p:txBody>
      </p:sp>
      <p:sp>
        <p:nvSpPr>
          <p:cNvPr id="15" name="Rounded Rectangle 14"/>
          <p:cNvSpPr/>
          <p:nvPr/>
        </p:nvSpPr>
        <p:spPr>
          <a:xfrm>
            <a:off x="731520" y="4023360"/>
            <a:ext cx="10698480" cy="105156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68680" y="4160520"/>
            <a:ext cx="2103120" cy="77724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206240"/>
            <a:ext cx="2011680" cy="685800"/>
          </a:xfrm>
          <a:prstGeom prst="rect">
            <a:avLst/>
          </a:prstGeom>
          <a:noFill/>
        </p:spPr>
        <p:txBody>
          <a:bodyPr wrap="square">
            <a:spAutoFit/>
          </a:bodyPr>
          <a:lstStyle/>
          <a:p>
            <a:pPr>
              <a:defRPr sz="1000" b="1">
                <a:solidFill>
                  <a:srgbClr val="38BDF8"/>
                </a:solidFill>
              </a:defRPr>
            </a:pPr>
            <a:r>
              <a:t>DATA &amp; PERSISTENCE TIER</a:t>
            </a:r>
          </a:p>
        </p:txBody>
      </p:sp>
      <p:sp>
        <p:nvSpPr>
          <p:cNvPr id="18" name="TextBox 17"/>
          <p:cNvSpPr txBox="1"/>
          <p:nvPr/>
        </p:nvSpPr>
        <p:spPr>
          <a:xfrm>
            <a:off x="3108960" y="4114800"/>
            <a:ext cx="8138160" cy="914400"/>
          </a:xfrm>
          <a:prstGeom prst="rect">
            <a:avLst/>
          </a:prstGeom>
          <a:noFill/>
        </p:spPr>
        <p:txBody>
          <a:bodyPr wrap="square">
            <a:spAutoFit/>
          </a:bodyPr>
          <a:lstStyle/>
          <a:p>
            <a:pPr>
              <a:defRPr sz="1100" b="1">
                <a:solidFill>
                  <a:srgbClr val="FFFFFF"/>
                </a:solidFill>
              </a:defRPr>
            </a:pPr>
            <a:r>
              <a:t>Relational Database (MySQL 8.0 / Sequelize ORM)</a:t>
            </a:r>
          </a:p>
          <a:p>
            <a:pPr>
              <a:spcBef>
                <a:spcPts val="200"/>
              </a:spcBef>
              <a:defRPr sz="850">
                <a:solidFill>
                  <a:srgbClr val="94A3B8"/>
                </a:solidFill>
              </a:defRPr>
            </a:pPr>
            <a:r>
              <a:t>• 14 Relational Models: Users, FarmerProfiles, Crops, Markets, MarketPrices, TransportRequests, Trips</a:t>
            </a:r>
            <a:br/>
            <a:r>
              <a:t>• Dedicated FPO Schemas: FpoProfiles, FpoMembers, CropAggregations, BulkOffers, Orders</a:t>
            </a:r>
            <a:br/>
            <a:r>
              <a:t>• ACID-compliant transactions for cargo allocation, over-commitment guards &amp; escrow release</a:t>
            </a:r>
            <a:br/>
            <a:r>
              <a:t>• 150 seeded Maharashtra APMC price records &amp; 106 tracked wholesale market benchmarks</a:t>
            </a:r>
          </a:p>
        </p:txBody>
      </p:sp>
      <p:sp>
        <p:nvSpPr>
          <p:cNvPr id="19" name="Rounded Rectangle 18"/>
          <p:cNvSpPr/>
          <p:nvPr/>
        </p:nvSpPr>
        <p:spPr>
          <a:xfrm>
            <a:off x="731520" y="5166360"/>
            <a:ext cx="10698480" cy="105156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68680" y="5303520"/>
            <a:ext cx="2103120" cy="77724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349240"/>
            <a:ext cx="2011680" cy="685800"/>
          </a:xfrm>
          <a:prstGeom prst="rect">
            <a:avLst/>
          </a:prstGeom>
          <a:noFill/>
        </p:spPr>
        <p:txBody>
          <a:bodyPr wrap="square">
            <a:spAutoFit/>
          </a:bodyPr>
          <a:lstStyle/>
          <a:p>
            <a:pPr>
              <a:defRPr sz="1000" b="1">
                <a:solidFill>
                  <a:srgbClr val="C084FC"/>
                </a:solidFill>
              </a:defRPr>
            </a:pPr>
            <a:r>
              <a:t>EXTERNAL INTEGRATIONS TIER</a:t>
            </a:r>
          </a:p>
        </p:txBody>
      </p:sp>
      <p:sp>
        <p:nvSpPr>
          <p:cNvPr id="22" name="TextBox 21"/>
          <p:cNvSpPr txBox="1"/>
          <p:nvPr/>
        </p:nvSpPr>
        <p:spPr>
          <a:xfrm>
            <a:off x="3108960" y="5257800"/>
            <a:ext cx="8138160" cy="914400"/>
          </a:xfrm>
          <a:prstGeom prst="rect">
            <a:avLst/>
          </a:prstGeom>
          <a:noFill/>
        </p:spPr>
        <p:txBody>
          <a:bodyPr wrap="square">
            <a:spAutoFit/>
          </a:bodyPr>
          <a:lstStyle/>
          <a:p>
            <a:pPr>
              <a:defRPr sz="1100" b="1">
                <a:solidFill>
                  <a:srgbClr val="FFFFFF"/>
                </a:solidFill>
              </a:defRPr>
            </a:pPr>
            <a:r>
              <a:t>Telemetry, Open Services &amp; Government Registries</a:t>
            </a:r>
          </a:p>
          <a:p>
            <a:pPr>
              <a:spcBef>
                <a:spcPts val="200"/>
              </a:spcBef>
              <a:defRPr sz="850">
                <a:solidFill>
                  <a:srgbClr val="94A3B8"/>
                </a:solidFill>
              </a:defRPr>
            </a:pPr>
            <a:r>
              <a:t>• Live Open-Meteo Satellite API for hyper-local rain probability, temperature &amp; wind telemetry</a:t>
            </a:r>
            <a:br/>
            <a:r>
              <a:t>• National Agristack Registry algorithmic resolver (Survey 7/12 land record validation)</a:t>
            </a:r>
            <a:br/>
            <a:r>
              <a:t>• WhatsApp Web deep-link gateway simulator for high-priority rain and gate pass alerts</a:t>
            </a:r>
            <a:br/>
            <a:r>
              <a:t>• Tested production deployment on Render Cloud Platform with SSL termination</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BACKEND ENGINEERING • VERIFIED RESTFUL ENDPOINTS</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Behind the APIs: Deterministic Routing &amp; Data Flow</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Production endpoint implementations verified across 33 automated test suites.</a:t>
            </a:r>
          </a:p>
        </p:txBody>
      </p:sp>
      <p:sp>
        <p:nvSpPr>
          <p:cNvPr id="7" name="Rounded Rectangle 6"/>
          <p:cNvSpPr/>
          <p:nvPr/>
        </p:nvSpPr>
        <p:spPr>
          <a:xfrm>
            <a:off x="731520" y="1737360"/>
            <a:ext cx="10698480" cy="13716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874519"/>
            <a:ext cx="3108960" cy="41148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901952"/>
            <a:ext cx="3017520" cy="365760"/>
          </a:xfrm>
          <a:prstGeom prst="rect">
            <a:avLst/>
          </a:prstGeom>
          <a:noFill/>
        </p:spPr>
        <p:txBody>
          <a:bodyPr wrap="none">
            <a:spAutoFit/>
          </a:bodyPr>
          <a:lstStyle/>
          <a:p>
            <a:pPr>
              <a:defRPr sz="1100" b="1">
                <a:solidFill>
                  <a:srgbClr val="10B981"/>
                </a:solidFill>
              </a:defRPr>
            </a:pPr>
            <a:r>
              <a:t>GET /api/markets/arbitrage</a:t>
            </a:r>
          </a:p>
        </p:txBody>
      </p:sp>
      <p:sp>
        <p:nvSpPr>
          <p:cNvPr id="10" name="TextBox 9"/>
          <p:cNvSpPr txBox="1"/>
          <p:nvPr/>
        </p:nvSpPr>
        <p:spPr>
          <a:xfrm>
            <a:off x="4206240" y="1847088"/>
            <a:ext cx="7040880" cy="1188720"/>
          </a:xfrm>
          <a:prstGeom prst="rect">
            <a:avLst/>
          </a:prstGeom>
          <a:noFill/>
        </p:spPr>
        <p:txBody>
          <a:bodyPr wrap="square">
            <a:spAutoFit/>
          </a:bodyPr>
          <a:lstStyle/>
          <a:p>
            <a:pPr>
              <a:defRPr sz="1150" b="1">
                <a:solidFill>
                  <a:srgbClr val="FFFFFF"/>
                </a:solidFill>
              </a:defRPr>
            </a:pPr>
            <a:r>
              <a:t>INTER-MANDI ARBITRAGE &amp; PROFIT ENGINE</a:t>
            </a:r>
          </a:p>
          <a:p>
            <a:pPr>
              <a:spcBef>
                <a:spcPts val="200"/>
              </a:spcBef>
              <a:defRPr sz="950">
                <a:solidFill>
                  <a:srgbClr val="94A3B8"/>
                </a:solidFill>
              </a:defRPr>
            </a:pPr>
            <a:r>
              <a:t>Params: ?crop=Tomato&amp;quantityKg=1000</a:t>
            </a:r>
          </a:p>
          <a:p>
            <a:pPr>
              <a:spcBef>
                <a:spcPts val="200"/>
              </a:spcBef>
              <a:defRPr sz="950">
                <a:solidFill>
                  <a:srgbClr val="94A3B8"/>
                </a:solidFill>
              </a:defRPr>
            </a:pPr>
            <a:r>
              <a:t>Validation: Validates crop name and non-negative quantity. Queries database APMC benchmark rates.</a:t>
            </a:r>
          </a:p>
          <a:p>
            <a:pPr>
              <a:spcBef>
                <a:spcPts val="200"/>
              </a:spcBef>
              <a:defRPr sz="950">
                <a:solidFill>
                  <a:srgbClr val="94A3B8"/>
                </a:solidFill>
              </a:defRPr>
            </a:pPr>
            <a:r>
              <a:t>Math Logic: Net Profit = (Mandi Price × Quantity) - (Toll Fees + Diesel Cost + APMC Cess + Unloading).</a:t>
            </a:r>
          </a:p>
          <a:p>
            <a:pPr>
              <a:spcBef>
                <a:spcPts val="200"/>
              </a:spcBef>
              <a:defRPr sz="950">
                <a:solidFill>
                  <a:srgbClr val="94A3B8"/>
                </a:solidFill>
              </a:defRPr>
            </a:pPr>
            <a:r>
              <a:t>Response: Ranks mandis by net margin (Rank 1: Surat APMC ₹29,080, Rank 2: Pune APMC ₹28,150).</a:t>
            </a:r>
          </a:p>
        </p:txBody>
      </p:sp>
      <p:sp>
        <p:nvSpPr>
          <p:cNvPr id="11" name="Rounded Rectangle 10"/>
          <p:cNvSpPr/>
          <p:nvPr/>
        </p:nvSpPr>
        <p:spPr>
          <a:xfrm>
            <a:off x="731520" y="3246120"/>
            <a:ext cx="10698480" cy="13716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14400" y="3383279"/>
            <a:ext cx="3108960" cy="41148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410712"/>
            <a:ext cx="3017520" cy="365760"/>
          </a:xfrm>
          <a:prstGeom prst="rect">
            <a:avLst/>
          </a:prstGeom>
          <a:noFill/>
        </p:spPr>
        <p:txBody>
          <a:bodyPr wrap="none">
            <a:spAutoFit/>
          </a:bodyPr>
          <a:lstStyle/>
          <a:p>
            <a:pPr>
              <a:defRPr sz="1100" b="1">
                <a:solidFill>
                  <a:srgbClr val="38BDF8"/>
                </a:solidFill>
              </a:defRPr>
            </a:pPr>
            <a:r>
              <a:t>POST /api/transport/requests</a:t>
            </a:r>
          </a:p>
        </p:txBody>
      </p:sp>
      <p:sp>
        <p:nvSpPr>
          <p:cNvPr id="14" name="TextBox 13"/>
          <p:cNvSpPr txBox="1"/>
          <p:nvPr/>
        </p:nvSpPr>
        <p:spPr>
          <a:xfrm>
            <a:off x="4206240" y="3355848"/>
            <a:ext cx="7040880" cy="1188720"/>
          </a:xfrm>
          <a:prstGeom prst="rect">
            <a:avLst/>
          </a:prstGeom>
          <a:noFill/>
        </p:spPr>
        <p:txBody>
          <a:bodyPr wrap="square">
            <a:spAutoFit/>
          </a:bodyPr>
          <a:lstStyle/>
          <a:p>
            <a:pPr>
              <a:defRPr sz="1150" b="1">
                <a:solidFill>
                  <a:srgbClr val="FFFFFF"/>
                </a:solidFill>
              </a:defRPr>
            </a:pPr>
            <a:r>
              <a:t>SHARED CARGO CLUSTERING &amp; DRIVER INTEGRITY LOCK</a:t>
            </a:r>
          </a:p>
          <a:p>
            <a:pPr>
              <a:spcBef>
                <a:spcPts val="200"/>
              </a:spcBef>
              <a:defRPr sz="950">
                <a:solidFill>
                  <a:srgbClr val="94A3B8"/>
                </a:solidFill>
              </a:defRPr>
            </a:pPr>
            <a:r>
              <a:t>Payload: { pickupDistrict, deliveryMandi, cropType, weightKg, priceOffer }</a:t>
            </a:r>
          </a:p>
          <a:p>
            <a:pPr>
              <a:spcBef>
                <a:spcPts val="200"/>
              </a:spcBef>
              <a:defRPr sz="950">
                <a:solidFill>
                  <a:srgbClr val="94A3B8"/>
                </a:solidFill>
              </a:defRPr>
            </a:pPr>
            <a:r>
              <a:t>Isolation: Farmer token verified via JWT. Single-trip active driver lock enforced (returns 409 Conflict if driver has ongoing trip).</a:t>
            </a:r>
          </a:p>
          <a:p>
            <a:pPr>
              <a:spcBef>
                <a:spcPts val="200"/>
              </a:spcBef>
              <a:defRPr sz="950">
                <a:solidFill>
                  <a:srgbClr val="94A3B8"/>
                </a:solidFill>
              </a:defRPr>
            </a:pPr>
            <a:r>
              <a:t>Security: Automatically mints cryptographic 8-character gate_pass_code with verifiable QR data payload.</a:t>
            </a:r>
          </a:p>
        </p:txBody>
      </p:sp>
      <p:sp>
        <p:nvSpPr>
          <p:cNvPr id="15" name="Rounded Rectangle 14"/>
          <p:cNvSpPr/>
          <p:nvPr/>
        </p:nvSpPr>
        <p:spPr>
          <a:xfrm>
            <a:off x="731520" y="4754879"/>
            <a:ext cx="10698480" cy="13716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14400" y="4892040"/>
            <a:ext cx="3108960" cy="41148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919471"/>
            <a:ext cx="3017520" cy="365760"/>
          </a:xfrm>
          <a:prstGeom prst="rect">
            <a:avLst/>
          </a:prstGeom>
          <a:noFill/>
        </p:spPr>
        <p:txBody>
          <a:bodyPr wrap="none">
            <a:spAutoFit/>
          </a:bodyPr>
          <a:lstStyle/>
          <a:p>
            <a:pPr>
              <a:defRPr sz="1100" b="1">
                <a:solidFill>
                  <a:srgbClr val="F59E0B"/>
                </a:solidFill>
              </a:defRPr>
            </a:pPr>
            <a:r>
              <a:t>POST /api/fpo/aggregations</a:t>
            </a:r>
          </a:p>
        </p:txBody>
      </p:sp>
      <p:sp>
        <p:nvSpPr>
          <p:cNvPr id="18" name="TextBox 17"/>
          <p:cNvSpPr txBox="1"/>
          <p:nvPr/>
        </p:nvSpPr>
        <p:spPr>
          <a:xfrm>
            <a:off x="4206240" y="4864607"/>
            <a:ext cx="7040880" cy="1188720"/>
          </a:xfrm>
          <a:prstGeom prst="rect">
            <a:avLst/>
          </a:prstGeom>
          <a:noFill/>
        </p:spPr>
        <p:txBody>
          <a:bodyPr wrap="square">
            <a:spAutoFit/>
          </a:bodyPr>
          <a:lstStyle/>
          <a:p>
            <a:pPr>
              <a:defRPr sz="1150" b="1">
                <a:solidFill>
                  <a:srgbClr val="FFFFFF"/>
                </a:solidFill>
              </a:defRPr>
            </a:pPr>
            <a:r>
              <a:t>COLLECTIVE PRODUCE POOLING &amp; OVER-COMMITMENT GUARD</a:t>
            </a:r>
          </a:p>
          <a:p>
            <a:pPr>
              <a:spcBef>
                <a:spcPts val="200"/>
              </a:spcBef>
              <a:defRPr sz="950">
                <a:solidFill>
                  <a:srgbClr val="94A3B8"/>
                </a:solidFill>
              </a:defRPr>
            </a:pPr>
            <a:r>
              <a:t>Payload: { cropName: 'Onion', lots: [{ farmerId: 1, committedKg: 1000 }, { farmerId: 2, committedKg: 1500 }] }</a:t>
            </a:r>
          </a:p>
          <a:p>
            <a:pPr>
              <a:spcBef>
                <a:spcPts val="200"/>
              </a:spcBef>
              <a:defRPr sz="950">
                <a:solidFill>
                  <a:srgbClr val="94A3B8"/>
                </a:solidFill>
              </a:defRPr>
            </a:pPr>
            <a:r>
              <a:t>Integrity Guard: Rejects with 400 Bad Request if committed &gt; uncommitted farmer inventory.</a:t>
            </a:r>
          </a:p>
          <a:p>
            <a:pPr>
              <a:spcBef>
                <a:spcPts val="200"/>
              </a:spcBef>
              <a:defRPr sz="950">
                <a:solidFill>
                  <a:srgbClr val="94A3B8"/>
                </a:solidFill>
              </a:defRPr>
            </a:pPr>
            <a:r>
              <a:t>Output: Creates pooled wholesale lot AGG-2026-NAS-6771 ready for bulk APMC procurement quotation.</a:t>
            </a:r>
          </a:p>
        </p:txBody>
      </p:sp>
    </p:spTree>
  </p:cSld>
  <p:clrMapOvr>
    <a:masterClrMapping/>
  </p:clrMapOvr>
  <mc:AlternateContent xmlns:mc="http://schemas.openxmlformats.org/markup-compatibility/2006">
    <mc:Choice xmlns:p14="http://schemas.microsoft.com/office/powerpoint/2010/main" Requires="p14">
      <p:transition spd="med" p14:dur="6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FRONTEND &amp; RURAL-FIRST UX • SAYALI KULKARNI</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Zero-Friction Farmer Experience: Accessible, Intuitive &amp; Actionable</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Designed specifically for rural smallholders with multilingual support, guest mode, and A4 printability.</a:t>
            </a:r>
          </a:p>
        </p:txBody>
      </p:sp>
      <p:sp>
        <p:nvSpPr>
          <p:cNvPr id="7" name="Rounded Rectangle 6"/>
          <p:cNvSpPr/>
          <p:nvPr/>
        </p:nvSpPr>
        <p:spPr>
          <a:xfrm>
            <a:off x="731520" y="1737360"/>
            <a:ext cx="256032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1920240"/>
            <a:ext cx="2286000" cy="45720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65960"/>
            <a:ext cx="2194560" cy="365760"/>
          </a:xfrm>
          <a:prstGeom prst="rect">
            <a:avLst/>
          </a:prstGeom>
          <a:noFill/>
        </p:spPr>
        <p:txBody>
          <a:bodyPr wrap="none">
            <a:spAutoFit/>
          </a:bodyPr>
          <a:lstStyle/>
          <a:p>
            <a:pPr>
              <a:defRPr sz="1050" b="1">
                <a:solidFill>
                  <a:srgbClr val="10B981"/>
                </a:solidFill>
              </a:defRPr>
            </a:pPr>
            <a:r>
              <a:t>UNIVERSAL GUEST MODE</a:t>
            </a:r>
          </a:p>
        </p:txBody>
      </p:sp>
      <p:sp>
        <p:nvSpPr>
          <p:cNvPr id="10" name="TextBox 9"/>
          <p:cNvSpPr txBox="1"/>
          <p:nvPr/>
        </p:nvSpPr>
        <p:spPr>
          <a:xfrm>
            <a:off x="868680" y="2514600"/>
            <a:ext cx="2286000" cy="3474720"/>
          </a:xfrm>
          <a:prstGeom prst="rect">
            <a:avLst/>
          </a:prstGeom>
          <a:noFill/>
        </p:spPr>
        <p:txBody>
          <a:bodyPr wrap="square">
            <a:spAutoFit/>
          </a:bodyPr>
          <a:lstStyle/>
          <a:p>
            <a:pPr>
              <a:defRPr sz="1000">
                <a:solidFill>
                  <a:srgbClr val="FFFFFF"/>
                </a:solidFill>
              </a:defRPr>
            </a:pPr>
            <a:r>
              <a:t>Rural farmers should never be blocked by complex login or OTP walls just to check commodity rates. Anyone can click 'Explore Without Login' to immediately access market analytics and simulations.</a:t>
            </a:r>
          </a:p>
          <a:p>
            <a:pPr>
              <a:spcBef>
                <a:spcPts val="1200"/>
              </a:spcBef>
              <a:defRPr sz="950" b="1">
                <a:solidFill>
                  <a:srgbClr val="FDE68A"/>
                </a:solidFill>
              </a:defRPr>
            </a:pPr>
            <a:r>
              <a:t>✓ Verified: 5/5 Guest Mode Tests Pass</a:t>
            </a:r>
          </a:p>
        </p:txBody>
      </p:sp>
      <p:sp>
        <p:nvSpPr>
          <p:cNvPr id="11" name="Rounded Rectangle 10"/>
          <p:cNvSpPr/>
          <p:nvPr/>
        </p:nvSpPr>
        <p:spPr>
          <a:xfrm>
            <a:off x="3429000" y="1737360"/>
            <a:ext cx="256032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920240"/>
            <a:ext cx="2286000" cy="45720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965960"/>
            <a:ext cx="2194560" cy="365760"/>
          </a:xfrm>
          <a:prstGeom prst="rect">
            <a:avLst/>
          </a:prstGeom>
          <a:noFill/>
        </p:spPr>
        <p:txBody>
          <a:bodyPr wrap="none">
            <a:spAutoFit/>
          </a:bodyPr>
          <a:lstStyle/>
          <a:p>
            <a:pPr>
              <a:defRPr sz="1050" b="1">
                <a:solidFill>
                  <a:srgbClr val="F59E0B"/>
                </a:solidFill>
              </a:defRPr>
            </a:pPr>
            <a:r>
              <a:t>MULTI-CROP ACREAGE DONUT</a:t>
            </a:r>
          </a:p>
        </p:txBody>
      </p:sp>
      <p:sp>
        <p:nvSpPr>
          <p:cNvPr id="14" name="TextBox 13"/>
          <p:cNvSpPr txBox="1"/>
          <p:nvPr/>
        </p:nvSpPr>
        <p:spPr>
          <a:xfrm>
            <a:off x="3566160" y="2514600"/>
            <a:ext cx="2286000" cy="3474720"/>
          </a:xfrm>
          <a:prstGeom prst="rect">
            <a:avLst/>
          </a:prstGeom>
          <a:noFill/>
        </p:spPr>
        <p:txBody>
          <a:bodyPr wrap="square">
            <a:spAutoFit/>
          </a:bodyPr>
          <a:lstStyle/>
          <a:p>
            <a:pPr>
              <a:defRPr sz="1000">
                <a:solidFill>
                  <a:srgbClr val="FFFFFF"/>
                </a:solidFill>
              </a:defRPr>
            </a:pPr>
            <a:r>
              <a:t>Smallholders cultivating multiple crops (e.g. Cotton, Tomato, Wheat) switch tabs seamlessly. Recharts interactive donut calculates acreage distribution, projected yield, and expected revenue.</a:t>
            </a:r>
          </a:p>
          <a:p>
            <a:pPr>
              <a:spcBef>
                <a:spcPts val="1200"/>
              </a:spcBef>
              <a:defRPr sz="950" b="1">
                <a:solidFill>
                  <a:srgbClr val="FDE68A"/>
                </a:solidFill>
              </a:defRPr>
            </a:pPr>
            <a:r>
              <a:t>✓ Verified: 10/10 Multi-Crop Tests Pass</a:t>
            </a:r>
          </a:p>
        </p:txBody>
      </p:sp>
      <p:sp>
        <p:nvSpPr>
          <p:cNvPr id="15" name="Rounded Rectangle 14"/>
          <p:cNvSpPr/>
          <p:nvPr/>
        </p:nvSpPr>
        <p:spPr>
          <a:xfrm>
            <a:off x="6126480" y="1737360"/>
            <a:ext cx="256032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1920240"/>
            <a:ext cx="2286000" cy="45720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965960"/>
            <a:ext cx="2194560" cy="365760"/>
          </a:xfrm>
          <a:prstGeom prst="rect">
            <a:avLst/>
          </a:prstGeom>
          <a:noFill/>
        </p:spPr>
        <p:txBody>
          <a:bodyPr wrap="none">
            <a:spAutoFit/>
          </a:bodyPr>
          <a:lstStyle/>
          <a:p>
            <a:pPr>
              <a:defRPr sz="1050" b="1">
                <a:solidFill>
                  <a:srgbClr val="38BDF8"/>
                </a:solidFill>
              </a:defRPr>
            </a:pPr>
            <a:r>
              <a:t>1-CLICK PRINTABLE FARM REPORT</a:t>
            </a:r>
          </a:p>
        </p:txBody>
      </p:sp>
      <p:sp>
        <p:nvSpPr>
          <p:cNvPr id="18" name="TextBox 17"/>
          <p:cNvSpPr txBox="1"/>
          <p:nvPr/>
        </p:nvSpPr>
        <p:spPr>
          <a:xfrm>
            <a:off x="6263640" y="2514600"/>
            <a:ext cx="2286000" cy="3474720"/>
          </a:xfrm>
          <a:prstGeom prst="rect">
            <a:avLst/>
          </a:prstGeom>
          <a:noFill/>
        </p:spPr>
        <p:txBody>
          <a:bodyPr wrap="square">
            <a:spAutoFit/>
          </a:bodyPr>
          <a:lstStyle/>
          <a:p>
            <a:pPr>
              <a:defRPr sz="1000">
                <a:solidFill>
                  <a:srgbClr val="FFFFFF"/>
                </a:solidFill>
              </a:defRPr>
            </a:pPr>
            <a:r>
              <a:t>Many rural farmers need physical documentation for bank loans or APMC clearances. Issue #79 A4 printable layout strips all web navigation, producing a certified, loan-ready decision sheet.</a:t>
            </a:r>
          </a:p>
          <a:p>
            <a:pPr>
              <a:spcBef>
                <a:spcPts val="1200"/>
              </a:spcBef>
              <a:defRPr sz="950" b="1">
                <a:solidFill>
                  <a:srgbClr val="FDE68A"/>
                </a:solidFill>
              </a:defRPr>
            </a:pPr>
            <a:r>
              <a:t>✓ Verified: Issue #78 &amp; #79 A4 CSS Layout</a:t>
            </a:r>
          </a:p>
        </p:txBody>
      </p:sp>
      <p:sp>
        <p:nvSpPr>
          <p:cNvPr id="19" name="Rounded Rectangle 18"/>
          <p:cNvSpPr/>
          <p:nvPr/>
        </p:nvSpPr>
        <p:spPr>
          <a:xfrm>
            <a:off x="8823960" y="1737360"/>
            <a:ext cx="2560320" cy="43891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61120" y="1920240"/>
            <a:ext cx="2286000" cy="45720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1965960"/>
            <a:ext cx="2194560" cy="365760"/>
          </a:xfrm>
          <a:prstGeom prst="rect">
            <a:avLst/>
          </a:prstGeom>
          <a:noFill/>
        </p:spPr>
        <p:txBody>
          <a:bodyPr wrap="none">
            <a:spAutoFit/>
          </a:bodyPr>
          <a:lstStyle/>
          <a:p>
            <a:pPr>
              <a:defRPr sz="1050" b="1">
                <a:solidFill>
                  <a:srgbClr val="C084FC"/>
                </a:solidFill>
              </a:defRPr>
            </a:pPr>
            <a:r>
              <a:t>AGRISTACK 7/12 LAND VERIFICATION</a:t>
            </a:r>
          </a:p>
        </p:txBody>
      </p:sp>
      <p:sp>
        <p:nvSpPr>
          <p:cNvPr id="22" name="TextBox 21"/>
          <p:cNvSpPr txBox="1"/>
          <p:nvPr/>
        </p:nvSpPr>
        <p:spPr>
          <a:xfrm>
            <a:off x="8961120" y="2514600"/>
            <a:ext cx="2286000" cy="3474720"/>
          </a:xfrm>
          <a:prstGeom prst="rect">
            <a:avLst/>
          </a:prstGeom>
          <a:noFill/>
        </p:spPr>
        <p:txBody>
          <a:bodyPr wrap="square">
            <a:spAutoFit/>
          </a:bodyPr>
          <a:lstStyle/>
          <a:p>
            <a:pPr>
              <a:defRPr sz="1000">
                <a:solidFill>
                  <a:srgbClr val="FFFFFF"/>
                </a:solidFill>
              </a:defRPr>
            </a:pPr>
            <a:r>
              <a:t>Integrated with national agricultural identity registry (Survey 142/2A). Linking land credentials unlocks pre-approved government welfare schemes (PM-KISAN, Drip Irrigation Subsidies).</a:t>
            </a:r>
          </a:p>
          <a:p>
            <a:pPr>
              <a:spcBef>
                <a:spcPts val="1200"/>
              </a:spcBef>
              <a:defRPr sz="950" b="1">
                <a:solidFill>
                  <a:srgbClr val="FDE68A"/>
                </a:solidFill>
              </a:defRPr>
            </a:pPr>
            <a:r>
              <a:t>✓ Verified: 7/12 Resolver &amp; Pre-Approval</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COLLECTIVE AGGREGATION • MIHIR JADAV</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FPO Module: Transforming Small Lots into High-Value Bulk Contracts</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Enabling Farmer Producer Organizations to pool member crops, negotiate with wholesale mandis, and automate payouts.</a:t>
            </a:r>
          </a:p>
        </p:txBody>
      </p:sp>
      <p:sp>
        <p:nvSpPr>
          <p:cNvPr id="7" name="Rounded Rectangle 6"/>
          <p:cNvSpPr/>
          <p:nvPr/>
        </p:nvSpPr>
        <p:spPr>
          <a:xfrm>
            <a:off x="731520" y="173736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74519"/>
            <a:ext cx="4754880" cy="1737360"/>
          </a:xfrm>
          <a:prstGeom prst="rect">
            <a:avLst/>
          </a:prstGeom>
          <a:noFill/>
        </p:spPr>
        <p:txBody>
          <a:bodyPr wrap="square">
            <a:spAutoFit/>
          </a:bodyPr>
          <a:lstStyle/>
          <a:p>
            <a:pPr>
              <a:defRPr sz="1200" b="1">
                <a:solidFill>
                  <a:srgbClr val="10B981"/>
                </a:solidFill>
              </a:defRPr>
            </a:pPr>
            <a:r>
              <a:t>01 • MEMBER ROSTER &amp; PRIVACY</a:t>
            </a:r>
          </a:p>
          <a:p>
            <a:pPr>
              <a:spcBef>
                <a:spcPts val="600"/>
              </a:spcBef>
              <a:defRPr sz="1050">
                <a:solidFill>
                  <a:srgbClr val="FFFFFF"/>
                </a:solidFill>
              </a:defRPr>
            </a:pPr>
            <a:r>
              <a:t>Centralized directory tracking 45+ registered member farmers, surveyed acreage, village clusters, and uncommitted stock. Full data privacy prevents non-FPO members from viewing sensitive farmer contact records.</a:t>
            </a:r>
          </a:p>
        </p:txBody>
      </p:sp>
      <p:sp>
        <p:nvSpPr>
          <p:cNvPr id="9" name="Rounded Rectangle 8"/>
          <p:cNvSpPr/>
          <p:nvPr/>
        </p:nvSpPr>
        <p:spPr>
          <a:xfrm>
            <a:off x="6217920" y="173736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74519"/>
            <a:ext cx="4754880" cy="1737360"/>
          </a:xfrm>
          <a:prstGeom prst="rect">
            <a:avLst/>
          </a:prstGeom>
          <a:noFill/>
        </p:spPr>
        <p:txBody>
          <a:bodyPr wrap="square">
            <a:spAutoFit/>
          </a:bodyPr>
          <a:lstStyle/>
          <a:p>
            <a:pPr>
              <a:defRPr sz="1200" b="1">
                <a:solidFill>
                  <a:srgbClr val="F59E0B"/>
                </a:solidFill>
              </a:defRPr>
            </a:pPr>
            <a:r>
              <a:t>02 • COLLECTIVE LOT AGGREGATION</a:t>
            </a:r>
          </a:p>
          <a:p>
            <a:pPr>
              <a:spcBef>
                <a:spcPts val="600"/>
              </a:spcBef>
              <a:defRPr sz="1050">
                <a:solidFill>
                  <a:srgbClr val="FFFFFF"/>
                </a:solidFill>
              </a:defRPr>
            </a:pPr>
            <a:r>
              <a:t>FPO leaders aggregate multiple 200–500 kg farmer lots into single wholesale shipments (e.g. 2,500 kg Onion lot AGG-2026-NAS-6771). Strict mathematical validation prevents double-allocation of produce.</a:t>
            </a:r>
          </a:p>
        </p:txBody>
      </p:sp>
      <p:sp>
        <p:nvSpPr>
          <p:cNvPr id="11" name="Rounded Rectangle 10"/>
          <p:cNvSpPr/>
          <p:nvPr/>
        </p:nvSpPr>
        <p:spPr>
          <a:xfrm>
            <a:off x="731520" y="393192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069080"/>
            <a:ext cx="4754880" cy="1737360"/>
          </a:xfrm>
          <a:prstGeom prst="rect">
            <a:avLst/>
          </a:prstGeom>
          <a:noFill/>
        </p:spPr>
        <p:txBody>
          <a:bodyPr wrap="square">
            <a:spAutoFit/>
          </a:bodyPr>
          <a:lstStyle/>
          <a:p>
            <a:pPr>
              <a:defRPr sz="1200" b="1">
                <a:solidFill>
                  <a:srgbClr val="38BDF8"/>
                </a:solidFill>
              </a:defRPr>
            </a:pPr>
            <a:r>
              <a:t>03 • BULK MANDI PROCUREMENT OFFERS</a:t>
            </a:r>
          </a:p>
          <a:p>
            <a:pPr>
              <a:spcBef>
                <a:spcPts val="600"/>
              </a:spcBef>
              <a:defRPr sz="1050">
                <a:solidFill>
                  <a:srgbClr val="FFFFFF"/>
                </a:solidFill>
              </a:defRPr>
            </a:pPr>
            <a:r>
              <a:t>FPO dispatches formal bulk trade offers directly to APMC terminal officials. Mandis submit electronic counter-quotations (e.g. ₹31/kg on Vashi APMC) which FPO leaders accept or negotiate.</a:t>
            </a:r>
          </a:p>
        </p:txBody>
      </p:sp>
      <p:sp>
        <p:nvSpPr>
          <p:cNvPr id="13" name="Rounded Rectangle 12"/>
          <p:cNvSpPr/>
          <p:nvPr/>
        </p:nvSpPr>
        <p:spPr>
          <a:xfrm>
            <a:off x="6217920" y="3931920"/>
            <a:ext cx="5212080" cy="20116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069080"/>
            <a:ext cx="4754880" cy="1737360"/>
          </a:xfrm>
          <a:prstGeom prst="rect">
            <a:avLst/>
          </a:prstGeom>
          <a:noFill/>
        </p:spPr>
        <p:txBody>
          <a:bodyPr wrap="square">
            <a:spAutoFit/>
          </a:bodyPr>
          <a:lstStyle/>
          <a:p>
            <a:pPr>
              <a:defRPr sz="1200" b="1">
                <a:solidFill>
                  <a:srgbClr val="C084FC"/>
                </a:solidFill>
              </a:defRPr>
            </a:pPr>
            <a:r>
              <a:t>04 • TRANSPARENT PAYOUT LEDGER</a:t>
            </a:r>
          </a:p>
          <a:p>
            <a:pPr>
              <a:spcBef>
                <a:spcPts val="600"/>
              </a:spcBef>
              <a:defRPr sz="1050">
                <a:solidFill>
                  <a:srgbClr val="FFFFFF"/>
                </a:solidFill>
              </a:defRPr>
            </a:pPr>
            <a:r>
              <a:t>Once a bulk contract is confirmed, the system calculates exact proportional payouts per farmer: (Gross Value × Share %) - (Proportional Freight) = Transparent Net Payout directly into bank accounts.</a:t>
            </a:r>
          </a:p>
        </p:txBody>
      </p:sp>
      <p:sp>
        <p:nvSpPr>
          <p:cNvPr id="15" name="Rounded Rectangle 14"/>
          <p:cNvSpPr/>
          <p:nvPr/>
        </p:nvSpPr>
        <p:spPr>
          <a:xfrm>
            <a:off x="731520" y="6080760"/>
            <a:ext cx="10698480" cy="50292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6126480"/>
            <a:ext cx="10332720" cy="411480"/>
          </a:xfrm>
          <a:prstGeom prst="rect">
            <a:avLst/>
          </a:prstGeom>
          <a:noFill/>
        </p:spPr>
        <p:txBody>
          <a:bodyPr wrap="none">
            <a:spAutoFit/>
          </a:bodyPr>
          <a:lstStyle/>
          <a:p>
            <a:pPr>
              <a:defRPr sz="1000" b="1">
                <a:solidFill>
                  <a:srgbClr val="34D399"/>
                </a:solidFill>
              </a:defRPr>
            </a:pPr>
            <a:r>
              <a:t>VERIFIED IN CODEBASE: 15/15 FPO test cases passing in fpoModule.test.js • Database tables: fpo_profiles, fpo_members, fpo_crop_aggregations, fpo_bulk_offers.</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BUYER-SIDE OPERATIONS • MIHIR JADAV</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Mandi Portal: Direct Digital Procurement for APMC Officials</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Eliminating physical middleman cartels through direct farmer connection and verified digital trades.</a:t>
            </a:r>
          </a:p>
        </p:txBody>
      </p:sp>
      <p:sp>
        <p:nvSpPr>
          <p:cNvPr id="7" name="Rounded Rectangle 6"/>
          <p:cNvSpPr/>
          <p:nvPr/>
        </p:nvSpPr>
        <p:spPr>
          <a:xfrm>
            <a:off x="731520" y="1737360"/>
            <a:ext cx="34747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920240"/>
            <a:ext cx="3108960" cy="45720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965960"/>
            <a:ext cx="3017520" cy="365760"/>
          </a:xfrm>
          <a:prstGeom prst="rect">
            <a:avLst/>
          </a:prstGeom>
          <a:noFill/>
        </p:spPr>
        <p:txBody>
          <a:bodyPr wrap="none">
            <a:spAutoFit/>
          </a:bodyPr>
          <a:lstStyle/>
          <a:p>
            <a:pPr>
              <a:defRPr sz="1100" b="1">
                <a:solidFill>
                  <a:srgbClr val="10B981"/>
                </a:solidFill>
              </a:defRPr>
            </a:pPr>
            <a:r>
              <a:t>DISTRICT ARRIVALS FEED</a:t>
            </a:r>
          </a:p>
        </p:txBody>
      </p:sp>
      <p:sp>
        <p:nvSpPr>
          <p:cNvPr id="10" name="TextBox 9"/>
          <p:cNvSpPr txBox="1"/>
          <p:nvPr/>
        </p:nvSpPr>
        <p:spPr>
          <a:xfrm>
            <a:off x="914400" y="2560320"/>
            <a:ext cx="3108960" cy="2468880"/>
          </a:xfrm>
          <a:prstGeom prst="rect">
            <a:avLst/>
          </a:prstGeom>
          <a:noFill/>
        </p:spPr>
        <p:txBody>
          <a:bodyPr wrap="square">
            <a:spAutoFit/>
          </a:bodyPr>
          <a:lstStyle/>
          <a:p>
            <a:pPr>
              <a:defRPr sz="1050">
                <a:solidFill>
                  <a:srgbClr val="FFFFFF"/>
                </a:solidFill>
              </a:defRPr>
            </a:pPr>
            <a:r>
              <a:t>Wholesale APMC traders and licensed mandi officials view real-time incoming produce listings across 28 registered district farmers with verified crop types, quantities, and harvest readiness.</a:t>
            </a:r>
          </a:p>
        </p:txBody>
      </p:sp>
      <p:sp>
        <p:nvSpPr>
          <p:cNvPr id="11" name="Rounded Rectangle 10"/>
          <p:cNvSpPr/>
          <p:nvPr/>
        </p:nvSpPr>
        <p:spPr>
          <a:xfrm>
            <a:off x="4343400" y="1737360"/>
            <a:ext cx="34747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26280" y="1920240"/>
            <a:ext cx="3108960" cy="45720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965960"/>
            <a:ext cx="3017520" cy="365760"/>
          </a:xfrm>
          <a:prstGeom prst="rect">
            <a:avLst/>
          </a:prstGeom>
          <a:noFill/>
        </p:spPr>
        <p:txBody>
          <a:bodyPr wrap="none">
            <a:spAutoFit/>
          </a:bodyPr>
          <a:lstStyle/>
          <a:p>
            <a:pPr>
              <a:defRPr sz="1100" b="1">
                <a:solidFill>
                  <a:srgbClr val="F59E0B"/>
                </a:solidFill>
              </a:defRPr>
            </a:pPr>
            <a:r>
              <a:t>DIRECT PROCUREMENT OFFERS</a:t>
            </a:r>
          </a:p>
        </p:txBody>
      </p:sp>
      <p:sp>
        <p:nvSpPr>
          <p:cNvPr id="14" name="TextBox 13"/>
          <p:cNvSpPr txBox="1"/>
          <p:nvPr/>
        </p:nvSpPr>
        <p:spPr>
          <a:xfrm>
            <a:off x="4526280" y="2560320"/>
            <a:ext cx="3108960" cy="2468880"/>
          </a:xfrm>
          <a:prstGeom prst="rect">
            <a:avLst/>
          </a:prstGeom>
          <a:noFill/>
        </p:spPr>
        <p:txBody>
          <a:bodyPr wrap="square">
            <a:spAutoFit/>
          </a:bodyPr>
          <a:lstStyle/>
          <a:p>
            <a:pPr>
              <a:defRPr sz="1050">
                <a:solidFill>
                  <a:srgbClr val="FFFFFF"/>
                </a:solidFill>
              </a:defRPr>
            </a:pPr>
            <a:r>
              <a:t>Officials can bypass village brokers and send direct purchase offers (e.g. 250 kg Cotton at ₹75.65/kg). Farmer dashboards instantly receive active procurement notification toasts.</a:t>
            </a:r>
          </a:p>
        </p:txBody>
      </p:sp>
      <p:sp>
        <p:nvSpPr>
          <p:cNvPr id="15" name="Rounded Rectangle 14"/>
          <p:cNvSpPr/>
          <p:nvPr/>
        </p:nvSpPr>
        <p:spPr>
          <a:xfrm>
            <a:off x="7955280" y="1737360"/>
            <a:ext cx="34747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38160" y="1920240"/>
            <a:ext cx="3108960" cy="45720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965960"/>
            <a:ext cx="3017520" cy="365760"/>
          </a:xfrm>
          <a:prstGeom prst="rect">
            <a:avLst/>
          </a:prstGeom>
          <a:noFill/>
        </p:spPr>
        <p:txBody>
          <a:bodyPr wrap="none">
            <a:spAutoFit/>
          </a:bodyPr>
          <a:lstStyle/>
          <a:p>
            <a:pPr>
              <a:defRPr sz="1100" b="1">
                <a:solidFill>
                  <a:srgbClr val="38BDF8"/>
                </a:solidFill>
              </a:defRPr>
            </a:pPr>
            <a:r>
              <a:t>ELECTRONIC WEIGHBRIDGE &amp; LICENSE SYNC</a:t>
            </a:r>
          </a:p>
        </p:txBody>
      </p:sp>
      <p:sp>
        <p:nvSpPr>
          <p:cNvPr id="18" name="TextBox 17"/>
          <p:cNvSpPr txBox="1"/>
          <p:nvPr/>
        </p:nvSpPr>
        <p:spPr>
          <a:xfrm>
            <a:off x="8138160" y="2560320"/>
            <a:ext cx="3108960" cy="2468880"/>
          </a:xfrm>
          <a:prstGeom prst="rect">
            <a:avLst/>
          </a:prstGeom>
          <a:noFill/>
        </p:spPr>
        <p:txBody>
          <a:bodyPr wrap="square">
            <a:spAutoFit/>
          </a:bodyPr>
          <a:lstStyle/>
          <a:p>
            <a:pPr>
              <a:defRPr sz="1050">
                <a:solidFill>
                  <a:srgbClr val="FFFFFF"/>
                </a:solidFill>
              </a:defRPr>
            </a:pPr>
            <a:r>
              <a:t>Displays verified Mandi License number (MH-APMC-PUN-MJ-2026), operating days, automated weighbridge facilities, and ripening chamber capacity aligned with e-NAM digital standards.</a:t>
            </a:r>
          </a:p>
        </p:txBody>
      </p:sp>
      <p:sp>
        <p:nvSpPr>
          <p:cNvPr id="19" name="Rounded Rectangle 18"/>
          <p:cNvSpPr/>
          <p:nvPr/>
        </p:nvSpPr>
        <p:spPr>
          <a:xfrm>
            <a:off x="731520" y="5394960"/>
            <a:ext cx="10698480" cy="114300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486400"/>
            <a:ext cx="10332720" cy="960120"/>
          </a:xfrm>
          <a:prstGeom prst="rect">
            <a:avLst/>
          </a:prstGeom>
          <a:noFill/>
        </p:spPr>
        <p:txBody>
          <a:bodyPr wrap="square">
            <a:spAutoFit/>
          </a:bodyPr>
          <a:lstStyle/>
          <a:p>
            <a:pPr>
              <a:defRPr sz="1100" b="1">
                <a:solidFill>
                  <a:srgbClr val="F59E0B"/>
                </a:solidFill>
              </a:defRPr>
            </a:pPr>
            <a:r>
              <a:t>VERIFIED IN PRODUCTION: APMC Mandi Portal &amp; Procurement Workflow</a:t>
            </a:r>
          </a:p>
          <a:p>
            <a:pPr>
              <a:spcBef>
                <a:spcPts val="300"/>
              </a:spcBef>
              <a:defRPr sz="950">
                <a:solidFill>
                  <a:srgbClr val="94A3B8"/>
                </a:solidFill>
              </a:defRPr>
            </a:pPr>
            <a:r>
              <a:t>• Tested in mandiProcurement.test.js: 6/6 tests passed with 100% success.</a:t>
            </a:r>
            <a:br/>
            <a:r>
              <a:t>• Tested in mandiDashboardFlow.test.js: Real-time notification badge, procurement offer submission, and district farmer feed verified.</a:t>
            </a:r>
            <a:br/>
            <a:r>
              <a:t>• Live Demo Account: mandi@harvestmitra.local (Sayali Kulkarni - APMC Mandi Official, Pune Wholesale Market).</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SHARED FREIGHT &amp; ESCROW • PRASHANT WARULE</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Shared Transport Pooling: Slashing Rural Freight Costs by 40–50%</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Dynamic highway cargo clustering, corridor telemetry playback, and secure digital gate pass verification.</a:t>
            </a:r>
          </a:p>
        </p:txBody>
      </p:sp>
      <p:sp>
        <p:nvSpPr>
          <p:cNvPr id="7" name="Rounded Rectangle 6"/>
          <p:cNvSpPr/>
          <p:nvPr/>
        </p:nvSpPr>
        <p:spPr>
          <a:xfrm>
            <a:off x="73152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1874519"/>
            <a:ext cx="2286000" cy="41148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2194560" cy="320040"/>
          </a:xfrm>
          <a:prstGeom prst="rect">
            <a:avLst/>
          </a:prstGeom>
          <a:noFill/>
        </p:spPr>
        <p:txBody>
          <a:bodyPr wrap="none">
            <a:spAutoFit/>
          </a:bodyPr>
          <a:lstStyle/>
          <a:p>
            <a:pPr>
              <a:defRPr sz="1000" b="1">
                <a:solidFill>
                  <a:srgbClr val="10B981"/>
                </a:solidFill>
              </a:defRPr>
            </a:pPr>
            <a:r>
              <a:t>SHARED CARGO CLUSTERING</a:t>
            </a:r>
          </a:p>
        </p:txBody>
      </p:sp>
      <p:sp>
        <p:nvSpPr>
          <p:cNvPr id="10" name="TextBox 9"/>
          <p:cNvSpPr txBox="1"/>
          <p:nvPr/>
        </p:nvSpPr>
        <p:spPr>
          <a:xfrm>
            <a:off x="868680" y="2423160"/>
            <a:ext cx="2286000" cy="3108960"/>
          </a:xfrm>
          <a:prstGeom prst="rect">
            <a:avLst/>
          </a:prstGeom>
          <a:noFill/>
        </p:spPr>
        <p:txBody>
          <a:bodyPr wrap="square">
            <a:spAutoFit/>
          </a:bodyPr>
          <a:lstStyle/>
          <a:p>
            <a:pPr>
              <a:defRPr sz="950">
                <a:solidFill>
                  <a:srgbClr val="FFFFFF"/>
                </a:solidFill>
              </a:defRPr>
            </a:pPr>
            <a:r>
              <a:t>Clusters smallholder farmers along identical highway corridors (e.g. Niphad ➔ Nashik ➔ Mumbai Vashi). Eliminates empty return trips and splits fuel/tolls proportionally, reducing freight by 40–50%.</a:t>
            </a:r>
          </a:p>
          <a:p>
            <a:pPr>
              <a:spcBef>
                <a:spcPts val="800"/>
              </a:spcBef>
              <a:defRPr sz="900" b="1">
                <a:solidFill>
                  <a:srgbClr val="FDE68A"/>
                </a:solidFill>
              </a:defRPr>
            </a:pPr>
            <a:r>
              <a:t>✓ Tested: sharedTransportBooking.test.js</a:t>
            </a:r>
          </a:p>
        </p:txBody>
      </p:sp>
      <p:sp>
        <p:nvSpPr>
          <p:cNvPr id="11" name="Rounded Rectangle 10"/>
          <p:cNvSpPr/>
          <p:nvPr/>
        </p:nvSpPr>
        <p:spPr>
          <a:xfrm>
            <a:off x="342900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74519"/>
            <a:ext cx="2286000" cy="41148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920240"/>
            <a:ext cx="2194560" cy="320040"/>
          </a:xfrm>
          <a:prstGeom prst="rect">
            <a:avLst/>
          </a:prstGeom>
          <a:noFill/>
        </p:spPr>
        <p:txBody>
          <a:bodyPr wrap="none">
            <a:spAutoFit/>
          </a:bodyPr>
          <a:lstStyle/>
          <a:p>
            <a:pPr>
              <a:defRPr sz="1000" b="1">
                <a:solidFill>
                  <a:srgbClr val="F59E0B"/>
                </a:solidFill>
              </a:defRPr>
            </a:pPr>
            <a:r>
              <a:t>SINGLE-TRIP ACTIVE DRIVER LOCK</a:t>
            </a:r>
          </a:p>
        </p:txBody>
      </p:sp>
      <p:sp>
        <p:nvSpPr>
          <p:cNvPr id="14" name="TextBox 13"/>
          <p:cNvSpPr txBox="1"/>
          <p:nvPr/>
        </p:nvSpPr>
        <p:spPr>
          <a:xfrm>
            <a:off x="3566160" y="2423160"/>
            <a:ext cx="2286000" cy="3108960"/>
          </a:xfrm>
          <a:prstGeom prst="rect">
            <a:avLst/>
          </a:prstGeom>
          <a:noFill/>
        </p:spPr>
        <p:txBody>
          <a:bodyPr wrap="square">
            <a:spAutoFit/>
          </a:bodyPr>
          <a:lstStyle/>
          <a:p>
            <a:pPr>
              <a:defRPr sz="950">
                <a:solidFill>
                  <a:srgbClr val="FFFFFF"/>
                </a:solidFill>
              </a:defRPr>
            </a:pPr>
            <a:r>
              <a:t>Strict database constraint ensures a transporter can only progress one active delivery at a time. System returns 409 Conflict if a driver attempts to accept overlapping dispatches.</a:t>
            </a:r>
          </a:p>
          <a:p>
            <a:pPr>
              <a:spcBef>
                <a:spcPts val="800"/>
              </a:spcBef>
              <a:defRPr sz="900" b="1">
                <a:solidFill>
                  <a:srgbClr val="FDE68A"/>
                </a:solidFill>
              </a:defRPr>
            </a:pPr>
            <a:r>
              <a:t>✓ Tested: transport_security.test.js (7/7 Pass)</a:t>
            </a:r>
          </a:p>
        </p:txBody>
      </p:sp>
      <p:sp>
        <p:nvSpPr>
          <p:cNvPr id="15" name="Rounded Rectangle 14"/>
          <p:cNvSpPr/>
          <p:nvPr/>
        </p:nvSpPr>
        <p:spPr>
          <a:xfrm>
            <a:off x="612648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1874519"/>
            <a:ext cx="2286000" cy="41148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920240"/>
            <a:ext cx="2194560" cy="320040"/>
          </a:xfrm>
          <a:prstGeom prst="rect">
            <a:avLst/>
          </a:prstGeom>
          <a:noFill/>
        </p:spPr>
        <p:txBody>
          <a:bodyPr wrap="none">
            <a:spAutoFit/>
          </a:bodyPr>
          <a:lstStyle/>
          <a:p>
            <a:pPr>
              <a:defRPr sz="1000" b="1">
                <a:solidFill>
                  <a:srgbClr val="38BDF8"/>
                </a:solidFill>
              </a:defRPr>
            </a:pPr>
            <a:r>
              <a:t>DIGITAL QR MANDI GATE PASS</a:t>
            </a:r>
          </a:p>
        </p:txBody>
      </p:sp>
      <p:sp>
        <p:nvSpPr>
          <p:cNvPr id="18" name="TextBox 17"/>
          <p:cNvSpPr txBox="1"/>
          <p:nvPr/>
        </p:nvSpPr>
        <p:spPr>
          <a:xfrm>
            <a:off x="6263640" y="2423160"/>
            <a:ext cx="2286000" cy="3108960"/>
          </a:xfrm>
          <a:prstGeom prst="rect">
            <a:avLst/>
          </a:prstGeom>
          <a:noFill/>
        </p:spPr>
        <p:txBody>
          <a:bodyPr wrap="square">
            <a:spAutoFit/>
          </a:bodyPr>
          <a:lstStyle/>
          <a:p>
            <a:pPr>
              <a:defRPr sz="950">
                <a:solidFill>
                  <a:srgbClr val="FFFFFF"/>
                </a:solidFill>
              </a:defRPr>
            </a:pPr>
            <a:r>
              <a:t>Accepted trips instantly generate a digital Mandi Gate Pass containing verified driver photo, vehicle license (MH-12-PW-2026), cargo manifest, and an encrypted QR security seal.</a:t>
            </a:r>
          </a:p>
          <a:p>
            <a:pPr>
              <a:spcBef>
                <a:spcPts val="800"/>
              </a:spcBef>
              <a:defRPr sz="900" b="1">
                <a:solidFill>
                  <a:srgbClr val="FDE68A"/>
                </a:solidFill>
              </a:defRPr>
            </a:pPr>
            <a:r>
              <a:t>✓ Tested: driverGatePassPrint.test.js</a:t>
            </a:r>
          </a:p>
        </p:txBody>
      </p:sp>
      <p:sp>
        <p:nvSpPr>
          <p:cNvPr id="19" name="Rounded Rectangle 18"/>
          <p:cNvSpPr/>
          <p:nvPr/>
        </p:nvSpPr>
        <p:spPr>
          <a:xfrm>
            <a:off x="8823960" y="1737360"/>
            <a:ext cx="2560320" cy="39319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61120" y="1874519"/>
            <a:ext cx="2286000" cy="41148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1920240"/>
            <a:ext cx="2194560" cy="320040"/>
          </a:xfrm>
          <a:prstGeom prst="rect">
            <a:avLst/>
          </a:prstGeom>
          <a:noFill/>
        </p:spPr>
        <p:txBody>
          <a:bodyPr wrap="none">
            <a:spAutoFit/>
          </a:bodyPr>
          <a:lstStyle/>
          <a:p>
            <a:pPr>
              <a:defRPr sz="1000" b="1">
                <a:solidFill>
                  <a:srgbClr val="C084FC"/>
                </a:solidFill>
              </a:defRPr>
            </a:pPr>
            <a:r>
              <a:t>FREIGHT ESCROW &amp; 5-STAR RATING</a:t>
            </a:r>
          </a:p>
        </p:txBody>
      </p:sp>
      <p:sp>
        <p:nvSpPr>
          <p:cNvPr id="22" name="TextBox 21"/>
          <p:cNvSpPr txBox="1"/>
          <p:nvPr/>
        </p:nvSpPr>
        <p:spPr>
          <a:xfrm>
            <a:off x="8961120" y="2423160"/>
            <a:ext cx="2286000" cy="3108960"/>
          </a:xfrm>
          <a:prstGeom prst="rect">
            <a:avLst/>
          </a:prstGeom>
          <a:noFill/>
        </p:spPr>
        <p:txBody>
          <a:bodyPr wrap="square">
            <a:spAutoFit/>
          </a:bodyPr>
          <a:lstStyle/>
          <a:p>
            <a:pPr>
              <a:defRPr sz="950">
                <a:solidFill>
                  <a:srgbClr val="FFFFFF"/>
                </a:solidFill>
              </a:defRPr>
            </a:pPr>
            <a:r>
              <a:t>Farmer locks freight fare in HarvestMitra Escrow upon booking. Funds are automatically released to the driver upon delivery confirmation, followed by 5-star driver performance reviews.</a:t>
            </a:r>
          </a:p>
          <a:p>
            <a:pPr>
              <a:spcBef>
                <a:spcPts val="800"/>
              </a:spcBef>
              <a:defRPr sz="900" b="1">
                <a:solidFill>
                  <a:srgbClr val="FDE68A"/>
                </a:solidFill>
              </a:defRPr>
            </a:pPr>
            <a:r>
              <a:t>✓ Tested: escrow_rating.test.js</a:t>
            </a:r>
          </a:p>
        </p:txBody>
      </p:sp>
      <p:sp>
        <p:nvSpPr>
          <p:cNvPr id="23" name="Rounded Rectangle 22"/>
          <p:cNvSpPr/>
          <p:nvPr/>
        </p:nvSpPr>
        <p:spPr>
          <a:xfrm>
            <a:off x="731520" y="5852160"/>
            <a:ext cx="10698480" cy="59436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897880"/>
            <a:ext cx="10332720" cy="502920"/>
          </a:xfrm>
          <a:prstGeom prst="rect">
            <a:avLst/>
          </a:prstGeom>
          <a:noFill/>
        </p:spPr>
        <p:txBody>
          <a:bodyPr wrap="none">
            <a:spAutoFit/>
          </a:bodyPr>
          <a:lstStyle/>
          <a:p>
            <a:pPr>
              <a:defRPr sz="950" b="1">
                <a:solidFill>
                  <a:srgbClr val="34D399"/>
                </a:solidFill>
              </a:defRPr>
            </a:pPr>
            <a:r>
              <a:t>TECHNICAL HONESTY NOTE: Route radar is an accurate Logistics Corridor &amp; Telemetry Playback Simulator (NH-160 Kasara Ghat corridor with 1x-10x speed scrubber), not unverified hardware satellite GPS.</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AI &amp; TELEMETRY INTEGRATION • VARUN PATIL</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AI-Powered Intelligence: Price Forecasting, Voice &amp; Weather Telemetry</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106 APMC Mandis analyzed, live Open-Meteo satellite weather, and multilingual voice assistance.</a:t>
            </a:r>
          </a:p>
        </p:txBody>
      </p:sp>
      <p:sp>
        <p:nvSpPr>
          <p:cNvPr id="7" name="Rounded Rectangle 6"/>
          <p:cNvSpPr/>
          <p:nvPr/>
        </p:nvSpPr>
        <p:spPr>
          <a:xfrm>
            <a:off x="731520" y="1737360"/>
            <a:ext cx="25603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1874519"/>
            <a:ext cx="2286000" cy="41148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20240"/>
            <a:ext cx="2194560" cy="320040"/>
          </a:xfrm>
          <a:prstGeom prst="rect">
            <a:avLst/>
          </a:prstGeom>
          <a:noFill/>
        </p:spPr>
        <p:txBody>
          <a:bodyPr wrap="none">
            <a:spAutoFit/>
          </a:bodyPr>
          <a:lstStyle/>
          <a:p>
            <a:pPr>
              <a:defRPr sz="1000" b="1">
                <a:solidFill>
                  <a:srgbClr val="10B981"/>
                </a:solidFill>
              </a:defRPr>
            </a:pPr>
            <a:r>
              <a:t>106 APMC MANDI SCANNER</a:t>
            </a:r>
          </a:p>
        </p:txBody>
      </p:sp>
      <p:sp>
        <p:nvSpPr>
          <p:cNvPr id="10" name="TextBox 9"/>
          <p:cNvSpPr txBox="1"/>
          <p:nvPr/>
        </p:nvSpPr>
        <p:spPr>
          <a:xfrm>
            <a:off x="868680" y="2423160"/>
            <a:ext cx="2286000" cy="2743200"/>
          </a:xfrm>
          <a:prstGeom prst="rect">
            <a:avLst/>
          </a:prstGeom>
          <a:noFill/>
        </p:spPr>
        <p:txBody>
          <a:bodyPr wrap="square">
            <a:spAutoFit/>
          </a:bodyPr>
          <a:lstStyle/>
          <a:p>
            <a:pPr>
              <a:defRPr sz="950">
                <a:solidFill>
                  <a:srgbClr val="FFFFFF"/>
                </a:solidFill>
              </a:defRPr>
            </a:pPr>
            <a:r>
              <a:t>Our mandiSyncService calculates 3-day and 7-day Simple Moving Averages (SMA3 vs SMA7) across 106 Maharashtra mandis to detect price spikes and market drops before they occur.</a:t>
            </a:r>
          </a:p>
          <a:p>
            <a:pPr>
              <a:spcBef>
                <a:spcPts val="800"/>
              </a:spcBef>
              <a:defRPr sz="900" b="1">
                <a:solidFill>
                  <a:srgbClr val="FDE68A"/>
                </a:solidFill>
              </a:defRPr>
            </a:pPr>
            <a:r>
              <a:t>● Live Data: 106 Mandis &amp; 3,722 Records</a:t>
            </a:r>
          </a:p>
        </p:txBody>
      </p:sp>
      <p:sp>
        <p:nvSpPr>
          <p:cNvPr id="11" name="Rounded Rectangle 10"/>
          <p:cNvSpPr/>
          <p:nvPr/>
        </p:nvSpPr>
        <p:spPr>
          <a:xfrm>
            <a:off x="3429000" y="1737360"/>
            <a:ext cx="25603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74519"/>
            <a:ext cx="2286000" cy="41148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920240"/>
            <a:ext cx="2194560" cy="320040"/>
          </a:xfrm>
          <a:prstGeom prst="rect">
            <a:avLst/>
          </a:prstGeom>
          <a:noFill/>
        </p:spPr>
        <p:txBody>
          <a:bodyPr wrap="none">
            <a:spAutoFit/>
          </a:bodyPr>
          <a:lstStyle/>
          <a:p>
            <a:pPr>
              <a:defRPr sz="1000" b="1">
                <a:solidFill>
                  <a:srgbClr val="F59E0B"/>
                </a:solidFill>
              </a:defRPr>
            </a:pPr>
            <a:r>
              <a:t>14-DAY PRICE FORECAST ENGINE</a:t>
            </a:r>
          </a:p>
        </p:txBody>
      </p:sp>
      <p:sp>
        <p:nvSpPr>
          <p:cNvPr id="14" name="TextBox 13"/>
          <p:cNvSpPr txBox="1"/>
          <p:nvPr/>
        </p:nvSpPr>
        <p:spPr>
          <a:xfrm>
            <a:off x="3566160" y="2423160"/>
            <a:ext cx="2286000" cy="2743200"/>
          </a:xfrm>
          <a:prstGeom prst="rect">
            <a:avLst/>
          </a:prstGeom>
          <a:noFill/>
        </p:spPr>
        <p:txBody>
          <a:bodyPr wrap="square">
            <a:spAutoFit/>
          </a:bodyPr>
          <a:lstStyle/>
          <a:p>
            <a:pPr>
              <a:defRPr sz="950">
                <a:solidFill>
                  <a:srgbClr val="FFFFFF"/>
                </a:solidFill>
              </a:defRPr>
            </a:pPr>
            <a:r>
              <a:t>forecastEngine.js predicts price trajectories over a 14-day window with 95% statistical confidence bounds (lower, baseline, upper) to identify optimal selling dates.</a:t>
            </a:r>
          </a:p>
          <a:p>
            <a:pPr>
              <a:spcBef>
                <a:spcPts val="800"/>
              </a:spcBef>
              <a:defRPr sz="900" b="1">
                <a:solidFill>
                  <a:srgbClr val="FDE68A"/>
                </a:solidFill>
              </a:defRPr>
            </a:pPr>
            <a:r>
              <a:t>● Algorithm: Confidence Bound Modeling</a:t>
            </a:r>
          </a:p>
        </p:txBody>
      </p:sp>
      <p:sp>
        <p:nvSpPr>
          <p:cNvPr id="15" name="Rounded Rectangle 14"/>
          <p:cNvSpPr/>
          <p:nvPr/>
        </p:nvSpPr>
        <p:spPr>
          <a:xfrm>
            <a:off x="6126480" y="1737360"/>
            <a:ext cx="25603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1874519"/>
            <a:ext cx="2286000" cy="41148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920240"/>
            <a:ext cx="2194560" cy="320040"/>
          </a:xfrm>
          <a:prstGeom prst="rect">
            <a:avLst/>
          </a:prstGeom>
          <a:noFill/>
        </p:spPr>
        <p:txBody>
          <a:bodyPr wrap="none">
            <a:spAutoFit/>
          </a:bodyPr>
          <a:lstStyle/>
          <a:p>
            <a:pPr>
              <a:defRPr sz="1000" b="1">
                <a:solidFill>
                  <a:srgbClr val="38BDF8"/>
                </a:solidFill>
              </a:defRPr>
            </a:pPr>
            <a:r>
              <a:t>OPEN-METEO WEATHER TELEMETRY</a:t>
            </a:r>
          </a:p>
        </p:txBody>
      </p:sp>
      <p:sp>
        <p:nvSpPr>
          <p:cNvPr id="18" name="TextBox 17"/>
          <p:cNvSpPr txBox="1"/>
          <p:nvPr/>
        </p:nvSpPr>
        <p:spPr>
          <a:xfrm>
            <a:off x="6263640" y="2423160"/>
            <a:ext cx="2286000" cy="2743200"/>
          </a:xfrm>
          <a:prstGeom prst="rect">
            <a:avLst/>
          </a:prstGeom>
          <a:noFill/>
        </p:spPr>
        <p:txBody>
          <a:bodyPr wrap="square">
            <a:spAutoFit/>
          </a:bodyPr>
          <a:lstStyle/>
          <a:p>
            <a:pPr>
              <a:defRPr sz="950">
                <a:solidFill>
                  <a:srgbClr val="FFFFFF"/>
                </a:solidFill>
              </a:defRPr>
            </a:pPr>
            <a:r>
              <a:t>Direct integration with Open-Meteo API for real-time rain probability, humidity, and wind speed. Precipitation &gt;60% triggers localized WhatsApp advisory toasts.</a:t>
            </a:r>
          </a:p>
          <a:p>
            <a:pPr>
              <a:spcBef>
                <a:spcPts val="800"/>
              </a:spcBef>
              <a:defRPr sz="900" b="1">
                <a:solidFill>
                  <a:srgbClr val="FDE68A"/>
                </a:solidFill>
              </a:defRPr>
            </a:pPr>
            <a:r>
              <a:t>● Live Integration: Open-Meteo Direct API</a:t>
            </a:r>
          </a:p>
        </p:txBody>
      </p:sp>
      <p:sp>
        <p:nvSpPr>
          <p:cNvPr id="19" name="Rounded Rectangle 18"/>
          <p:cNvSpPr/>
          <p:nvPr/>
        </p:nvSpPr>
        <p:spPr>
          <a:xfrm>
            <a:off x="8823960" y="1737360"/>
            <a:ext cx="25603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961120" y="1874519"/>
            <a:ext cx="2286000" cy="41148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1920240"/>
            <a:ext cx="2194560" cy="320040"/>
          </a:xfrm>
          <a:prstGeom prst="rect">
            <a:avLst/>
          </a:prstGeom>
          <a:noFill/>
        </p:spPr>
        <p:txBody>
          <a:bodyPr wrap="none">
            <a:spAutoFit/>
          </a:bodyPr>
          <a:lstStyle/>
          <a:p>
            <a:pPr>
              <a:defRPr sz="1000" b="1">
                <a:solidFill>
                  <a:srgbClr val="C084FC"/>
                </a:solidFill>
              </a:defRPr>
            </a:pPr>
            <a:r>
              <a:t>MITRA MULTILINGUAL VOICE AI</a:t>
            </a:r>
          </a:p>
        </p:txBody>
      </p:sp>
      <p:sp>
        <p:nvSpPr>
          <p:cNvPr id="22" name="TextBox 21"/>
          <p:cNvSpPr txBox="1"/>
          <p:nvPr/>
        </p:nvSpPr>
        <p:spPr>
          <a:xfrm>
            <a:off x="8961120" y="2423160"/>
            <a:ext cx="2286000" cy="2743200"/>
          </a:xfrm>
          <a:prstGeom prst="rect">
            <a:avLst/>
          </a:prstGeom>
          <a:noFill/>
        </p:spPr>
        <p:txBody>
          <a:bodyPr wrap="square">
            <a:spAutoFit/>
          </a:bodyPr>
          <a:lstStyle/>
          <a:p>
            <a:pPr>
              <a:defRPr sz="950">
                <a:solidFill>
                  <a:srgbClr val="FFFFFF"/>
                </a:solidFill>
              </a:defRPr>
            </a:pPr>
            <a:r>
              <a:t>Web Speech STT/TTS operating in Marathi, Hindi, and English. If cloud connectivity drops, our deterministic local rule engine responds in under 15 milliseconds without hallucination.</a:t>
            </a:r>
          </a:p>
          <a:p>
            <a:pPr>
              <a:spcBef>
                <a:spcPts val="800"/>
              </a:spcBef>
              <a:defRPr sz="900" b="1">
                <a:solidFill>
                  <a:srgbClr val="FDE68A"/>
                </a:solidFill>
              </a:defRPr>
            </a:pPr>
            <a:r>
              <a:t>● Fallback: Sub-15ms Rule-Based AI</a:t>
            </a:r>
          </a:p>
        </p:txBody>
      </p:sp>
      <p:sp>
        <p:nvSpPr>
          <p:cNvPr id="23" name="Rounded Rectangle 22"/>
          <p:cNvSpPr/>
          <p:nvPr/>
        </p:nvSpPr>
        <p:spPr>
          <a:xfrm>
            <a:off x="731520" y="5394960"/>
            <a:ext cx="10698480" cy="114300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440680"/>
            <a:ext cx="10332720" cy="1005840"/>
          </a:xfrm>
          <a:prstGeom prst="rect">
            <a:avLst/>
          </a:prstGeom>
          <a:noFill/>
        </p:spPr>
        <p:txBody>
          <a:bodyPr wrap="square">
            <a:spAutoFit/>
          </a:bodyPr>
          <a:lstStyle/>
          <a:p>
            <a:pPr>
              <a:defRPr sz="1050" b="1">
                <a:solidFill>
                  <a:srgbClr val="F59E0B"/>
                </a:solidFill>
              </a:defRPr>
            </a:pPr>
            <a:r>
              <a:t>TECHNICAL FACT VERIFICATION &amp; INTEGRATION REALITY TABLE:</a:t>
            </a:r>
          </a:p>
          <a:p>
            <a:pPr>
              <a:spcBef>
                <a:spcPts val="300"/>
              </a:spcBef>
              <a:defRPr sz="950">
                <a:solidFill>
                  <a:srgbClr val="94A3B8"/>
                </a:solidFill>
              </a:defRPr>
            </a:pPr>
            <a:r>
              <a:t>• Live Connected: Open-Meteo Weather API, MySQL Database (14 schemas), Bcrypt Auth, SMS/WhatsApp payload formatting.</a:t>
            </a:r>
            <a:br/>
            <a:r>
              <a:t>• Algorithmic: 14-Day Price Forecast Engine, Agristack 7/12 land registry resolver, Deterministic AI Fallback Engine.</a:t>
            </a:r>
            <a:br/>
            <a:r>
              <a:t>• Simulated / Sample: WhatsApp deep-link generation (no paid Twilio gateway), Highway Corridor Simulator, Crop Doctor heuristic.</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SECURITY &amp; GOVERNANCE • MIHIR JADAV</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Enterprise Security &amp; APMC Central Governance</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Strict role-based access control, cryptographic password hashing, and real-time market supervision.</a:t>
            </a:r>
          </a:p>
        </p:txBody>
      </p:sp>
      <p:sp>
        <p:nvSpPr>
          <p:cNvPr id="7" name="Rounded Rectangle 6"/>
          <p:cNvSpPr/>
          <p:nvPr/>
        </p:nvSpPr>
        <p:spPr>
          <a:xfrm>
            <a:off x="731520" y="1737360"/>
            <a:ext cx="34747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920240"/>
            <a:ext cx="3108960" cy="45720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965960"/>
            <a:ext cx="3017520" cy="365760"/>
          </a:xfrm>
          <a:prstGeom prst="rect">
            <a:avLst/>
          </a:prstGeom>
          <a:noFill/>
        </p:spPr>
        <p:txBody>
          <a:bodyPr wrap="none">
            <a:spAutoFit/>
          </a:bodyPr>
          <a:lstStyle/>
          <a:p>
            <a:pPr>
              <a:defRPr sz="1100" b="1">
                <a:solidFill>
                  <a:srgbClr val="10B981"/>
                </a:solidFill>
              </a:defRPr>
            </a:pPr>
            <a:r>
              <a:t>ROLE-BASED SECURITY MATRIX</a:t>
            </a:r>
          </a:p>
        </p:txBody>
      </p:sp>
      <p:sp>
        <p:nvSpPr>
          <p:cNvPr id="10" name="TextBox 9"/>
          <p:cNvSpPr txBox="1"/>
          <p:nvPr/>
        </p:nvSpPr>
        <p:spPr>
          <a:xfrm>
            <a:off x="914400" y="2560320"/>
            <a:ext cx="3108960" cy="2468880"/>
          </a:xfrm>
          <a:prstGeom prst="rect">
            <a:avLst/>
          </a:prstGeom>
          <a:noFill/>
        </p:spPr>
        <p:txBody>
          <a:bodyPr wrap="square">
            <a:spAutoFit/>
          </a:bodyPr>
          <a:lstStyle/>
          <a:p>
            <a:pPr>
              <a:defRPr sz="1050">
                <a:solidFill>
                  <a:srgbClr val="FFFFFF"/>
                </a:solidFill>
              </a:defRPr>
            </a:pPr>
            <a:r>
              <a:t>Strict middleware enforcement across all endpoints. Farmers attempting to access admin or mandi routes receive immediate 403 Forbidden. Passwords protected with bcrypt hashing (10 salt rounds). Sessions are strictly scoped with zero token leaks in local storage.</a:t>
            </a:r>
          </a:p>
          <a:p>
            <a:pPr>
              <a:spcBef>
                <a:spcPts val="1200"/>
              </a:spcBef>
              <a:defRPr sz="950" b="1">
                <a:solidFill>
                  <a:srgbClr val="FDE68A"/>
                </a:solidFill>
              </a:defRPr>
            </a:pPr>
            <a:r>
              <a:t>✓ 14/14 Security &amp; RBAC Tests Pass</a:t>
            </a:r>
          </a:p>
        </p:txBody>
      </p:sp>
      <p:sp>
        <p:nvSpPr>
          <p:cNvPr id="11" name="Rounded Rectangle 10"/>
          <p:cNvSpPr/>
          <p:nvPr/>
        </p:nvSpPr>
        <p:spPr>
          <a:xfrm>
            <a:off x="4343400" y="1737360"/>
            <a:ext cx="34747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26280" y="1920240"/>
            <a:ext cx="3108960" cy="45720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965960"/>
            <a:ext cx="3017520" cy="365760"/>
          </a:xfrm>
          <a:prstGeom prst="rect">
            <a:avLst/>
          </a:prstGeom>
          <a:noFill/>
        </p:spPr>
        <p:txBody>
          <a:bodyPr wrap="none">
            <a:spAutoFit/>
          </a:bodyPr>
          <a:lstStyle/>
          <a:p>
            <a:pPr>
              <a:defRPr sz="1100" b="1">
                <a:solidFill>
                  <a:srgbClr val="F59E0B"/>
                </a:solidFill>
              </a:defRPr>
            </a:pPr>
            <a:r>
              <a:t>APMC BENCHMARK PRICE GOVERNANCE</a:t>
            </a:r>
          </a:p>
        </p:txBody>
      </p:sp>
      <p:sp>
        <p:nvSpPr>
          <p:cNvPr id="14" name="TextBox 13"/>
          <p:cNvSpPr txBox="1"/>
          <p:nvPr/>
        </p:nvSpPr>
        <p:spPr>
          <a:xfrm>
            <a:off x="4526280" y="2560320"/>
            <a:ext cx="3108960" cy="2468880"/>
          </a:xfrm>
          <a:prstGeom prst="rect">
            <a:avLst/>
          </a:prstGeom>
          <a:noFill/>
        </p:spPr>
        <p:txBody>
          <a:bodyPr wrap="square">
            <a:spAutoFit/>
          </a:bodyPr>
          <a:lstStyle/>
          <a:p>
            <a:pPr>
              <a:defRPr sz="1050">
                <a:solidFill>
                  <a:srgbClr val="FFFFFF"/>
                </a:solidFill>
              </a:defRPr>
            </a:pPr>
            <a:r>
              <a:t>Central market administrators supervise 106 APMC Mandis, review price outlier anomalies, edit benchmark mandi prices, and publish government welfare schemes directly to verified farmers.</a:t>
            </a:r>
          </a:p>
          <a:p>
            <a:pPr>
              <a:spcBef>
                <a:spcPts val="1200"/>
              </a:spcBef>
              <a:defRPr sz="950" b="1">
                <a:solidFill>
                  <a:srgbClr val="FDE68A"/>
                </a:solidFill>
              </a:defRPr>
            </a:pPr>
            <a:r>
              <a:t>✓ Verified: Issue 0055530 Price Governance</a:t>
            </a:r>
          </a:p>
        </p:txBody>
      </p:sp>
      <p:sp>
        <p:nvSpPr>
          <p:cNvPr id="15" name="Rounded Rectangle 14"/>
          <p:cNvSpPr/>
          <p:nvPr/>
        </p:nvSpPr>
        <p:spPr>
          <a:xfrm>
            <a:off x="7955280" y="1737360"/>
            <a:ext cx="3474720" cy="347472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38160" y="1920240"/>
            <a:ext cx="3108960" cy="45720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965960"/>
            <a:ext cx="3017520" cy="365760"/>
          </a:xfrm>
          <a:prstGeom prst="rect">
            <a:avLst/>
          </a:prstGeom>
          <a:noFill/>
        </p:spPr>
        <p:txBody>
          <a:bodyPr wrap="none">
            <a:spAutoFit/>
          </a:bodyPr>
          <a:lstStyle/>
          <a:p>
            <a:pPr>
              <a:defRPr sz="1100" b="1">
                <a:solidFill>
                  <a:srgbClr val="38BDF8"/>
                </a:solidFill>
              </a:defRPr>
            </a:pPr>
            <a:r>
              <a:t>AUDIT LOGGING &amp; ACCOUNT CONTROL</a:t>
            </a:r>
          </a:p>
        </p:txBody>
      </p:sp>
      <p:sp>
        <p:nvSpPr>
          <p:cNvPr id="18" name="TextBox 17"/>
          <p:cNvSpPr txBox="1"/>
          <p:nvPr/>
        </p:nvSpPr>
        <p:spPr>
          <a:xfrm>
            <a:off x="8138160" y="2560320"/>
            <a:ext cx="3108960" cy="2468880"/>
          </a:xfrm>
          <a:prstGeom prst="rect">
            <a:avLst/>
          </a:prstGeom>
          <a:noFill/>
        </p:spPr>
        <p:txBody>
          <a:bodyPr wrap="square">
            <a:spAutoFit/>
          </a:bodyPr>
          <a:lstStyle/>
          <a:p>
            <a:pPr>
              <a:defRPr sz="1050">
                <a:solidFill>
                  <a:srgbClr val="FFFFFF"/>
                </a:solidFill>
              </a:defRPr>
            </a:pPr>
            <a:r>
              <a:t>All administrative transactions, user status updates (Active/Suspended), and mandi price modifications are recorded in audit logs with timestamped actor IDs for regulatory accountability.</a:t>
            </a:r>
          </a:p>
          <a:p>
            <a:pPr>
              <a:spcBef>
                <a:spcPts val="1200"/>
              </a:spcBef>
              <a:defRPr sz="950" b="1">
                <a:solidFill>
                  <a:srgbClr val="FDE68A"/>
                </a:solidFill>
              </a:defRPr>
            </a:pPr>
            <a:r>
              <a:t>✓ Verified: Audit Migration &amp; Log Storage</a:t>
            </a:r>
          </a:p>
        </p:txBody>
      </p:sp>
      <p:sp>
        <p:nvSpPr>
          <p:cNvPr id="19" name="Rounded Rectangle 18"/>
          <p:cNvSpPr/>
          <p:nvPr/>
        </p:nvSpPr>
        <p:spPr>
          <a:xfrm>
            <a:off x="731520" y="5394960"/>
            <a:ext cx="10698480" cy="114300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486400"/>
            <a:ext cx="10332720" cy="960120"/>
          </a:xfrm>
          <a:prstGeom prst="rect">
            <a:avLst/>
          </a:prstGeom>
          <a:noFill/>
        </p:spPr>
        <p:txBody>
          <a:bodyPr wrap="square">
            <a:spAutoFit/>
          </a:bodyPr>
          <a:lstStyle/>
          <a:p>
            <a:pPr>
              <a:defRPr sz="1050" b="1">
                <a:solidFill>
                  <a:srgbClr val="F59E0B"/>
                </a:solidFill>
              </a:defRPr>
            </a:pPr>
            <a:r>
              <a:t>TESTED SECURITY VERIFICATION METRICS (api_security.test.js &amp; roleAccessAudit.test.js):</a:t>
            </a:r>
          </a:p>
          <a:p>
            <a:pPr>
              <a:spcBef>
                <a:spcPts val="300"/>
              </a:spcBef>
              <a:defRPr sz="950">
                <a:solidFill>
                  <a:srgbClr val="94A3B8"/>
                </a:solidFill>
              </a:defRPr>
            </a:pPr>
            <a:r>
              <a:t>• GET /api/admin/users (Farmer Token) ➔ 403 Forbidden  •  GET /api/admin/overview (Farmer Token) ➔ 403 Forbidden</a:t>
            </a:r>
            <a:br/>
            <a:r>
              <a:t>• POST /api/market/sync (Farmer Token) ➔ 403 Forbidden  •  Transporter B accessing Transporter A trip ➔ 403 Forbidden</a:t>
            </a:r>
            <a:br/>
            <a:r>
              <a:t>• Zero passwords or JWT secrets exposed in API responses. Session-scoped token cleanup on browser close verified.</a:t>
            </a:r>
          </a:p>
        </p:txBody>
      </p:sp>
    </p:spTree>
  </p:cSld>
  <p:clrMapOvr>
    <a:masterClrMapping/>
  </p:clrMapOvr>
  <mc:AlternateContent xmlns:mc="http://schemas.openxmlformats.org/markup-compatibility/2006">
    <mc:Choice xmlns:p14="http://schemas.microsoft.com/office/powerpoint/2010/main" Requires="p14">
      <p:transition spd="med" p14:dur="6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STAGE REHEARSAL • LIVE SOFTWARE DEMONSTRATION</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Live Product Demonstration: The End-to-End Trade Journey</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A synchronized 6-step walkthrough demonstrating real software execution across all 5 roles.</a:t>
            </a:r>
          </a:p>
        </p:txBody>
      </p:sp>
      <p:sp>
        <p:nvSpPr>
          <p:cNvPr id="7" name="Rounded Rectangle 6"/>
          <p:cNvSpPr/>
          <p:nvPr/>
        </p:nvSpPr>
        <p:spPr>
          <a:xfrm>
            <a:off x="731520" y="1737360"/>
            <a:ext cx="1691640" cy="38404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874519"/>
            <a:ext cx="1508760" cy="365760"/>
          </a:xfrm>
          <a:prstGeom prst="roundRect">
            <a:avLst/>
          </a:prstGeom>
          <a:solidFill>
            <a:srgbClr val="062C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1901952"/>
            <a:ext cx="1463040" cy="320040"/>
          </a:xfrm>
          <a:prstGeom prst="rect">
            <a:avLst/>
          </a:prstGeom>
          <a:noFill/>
        </p:spPr>
        <p:txBody>
          <a:bodyPr wrap="none">
            <a:spAutoFit/>
          </a:bodyPr>
          <a:lstStyle/>
          <a:p>
            <a:pPr>
              <a:defRPr sz="950" b="1">
                <a:solidFill>
                  <a:srgbClr val="10B981"/>
                </a:solidFill>
              </a:defRPr>
            </a:pPr>
            <a:r>
              <a:t>STEP 01</a:t>
            </a:r>
          </a:p>
        </p:txBody>
      </p:sp>
      <p:sp>
        <p:nvSpPr>
          <p:cNvPr id="10" name="TextBox 9"/>
          <p:cNvSpPr txBox="1"/>
          <p:nvPr/>
        </p:nvSpPr>
        <p:spPr>
          <a:xfrm>
            <a:off x="822960" y="2331720"/>
            <a:ext cx="1508760" cy="3108960"/>
          </a:xfrm>
          <a:prstGeom prst="rect">
            <a:avLst/>
          </a:prstGeom>
          <a:noFill/>
        </p:spPr>
        <p:txBody>
          <a:bodyPr wrap="square">
            <a:spAutoFit/>
          </a:bodyPr>
          <a:lstStyle/>
          <a:p>
            <a:pPr>
              <a:defRPr sz="1000" b="1">
                <a:solidFill>
                  <a:srgbClr val="FFFFFF"/>
                </a:solidFill>
              </a:defRPr>
            </a:pPr>
            <a:r>
              <a:t>GUEST LANDING</a:t>
            </a:r>
          </a:p>
          <a:p>
            <a:pPr>
              <a:spcBef>
                <a:spcPts val="200"/>
              </a:spcBef>
              <a:defRPr sz="850" b="1">
                <a:solidFill>
                  <a:srgbClr val="FDE68A"/>
                </a:solidFill>
              </a:defRPr>
            </a:pPr>
            <a:r>
              <a:t>Route: /</a:t>
            </a:r>
          </a:p>
          <a:p>
            <a:pPr>
              <a:spcBef>
                <a:spcPts val="600"/>
              </a:spcBef>
              <a:defRPr sz="850">
                <a:solidFill>
                  <a:srgbClr val="94A3B8"/>
                </a:solidFill>
              </a:defRPr>
            </a:pPr>
            <a:r>
              <a:t>Demonstrate zero-barrier rural access by clicking 'Explore Without Login'. Shows immediate mandi prices.</a:t>
            </a:r>
          </a:p>
        </p:txBody>
      </p:sp>
      <p:sp>
        <p:nvSpPr>
          <p:cNvPr id="11" name="Rounded Rectangle 10"/>
          <p:cNvSpPr/>
          <p:nvPr/>
        </p:nvSpPr>
        <p:spPr>
          <a:xfrm>
            <a:off x="2514600" y="1737360"/>
            <a:ext cx="1691640" cy="38404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606040" y="1874519"/>
            <a:ext cx="1508760" cy="365760"/>
          </a:xfrm>
          <a:prstGeom prst="roundRect">
            <a:avLst/>
          </a:prstGeom>
          <a:solidFill>
            <a:srgbClr val="062C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24328" y="1901952"/>
            <a:ext cx="1463040" cy="320040"/>
          </a:xfrm>
          <a:prstGeom prst="rect">
            <a:avLst/>
          </a:prstGeom>
          <a:noFill/>
        </p:spPr>
        <p:txBody>
          <a:bodyPr wrap="none">
            <a:spAutoFit/>
          </a:bodyPr>
          <a:lstStyle/>
          <a:p>
            <a:pPr>
              <a:defRPr sz="950" b="1">
                <a:solidFill>
                  <a:srgbClr val="F59E0B"/>
                </a:solidFill>
              </a:defRPr>
            </a:pPr>
            <a:r>
              <a:t>STEP 02</a:t>
            </a:r>
          </a:p>
        </p:txBody>
      </p:sp>
      <p:sp>
        <p:nvSpPr>
          <p:cNvPr id="14" name="TextBox 13"/>
          <p:cNvSpPr txBox="1"/>
          <p:nvPr/>
        </p:nvSpPr>
        <p:spPr>
          <a:xfrm>
            <a:off x="2606040" y="2331720"/>
            <a:ext cx="1508760" cy="3108960"/>
          </a:xfrm>
          <a:prstGeom prst="rect">
            <a:avLst/>
          </a:prstGeom>
          <a:noFill/>
        </p:spPr>
        <p:txBody>
          <a:bodyPr wrap="square">
            <a:spAutoFit/>
          </a:bodyPr>
          <a:lstStyle/>
          <a:p>
            <a:pPr>
              <a:defRPr sz="1000" b="1">
                <a:solidFill>
                  <a:srgbClr val="FFFFFF"/>
                </a:solidFill>
              </a:defRPr>
            </a:pPr>
            <a:r>
              <a:t>FARMER DASHBOARD</a:t>
            </a:r>
          </a:p>
          <a:p>
            <a:pPr>
              <a:spcBef>
                <a:spcPts val="200"/>
              </a:spcBef>
              <a:defRPr sz="850" b="1">
                <a:solidFill>
                  <a:srgbClr val="FDE68A"/>
                </a:solidFill>
              </a:defRPr>
            </a:pPr>
            <a:r>
              <a:t>Route: /dashboard</a:t>
            </a:r>
          </a:p>
          <a:p>
            <a:pPr>
              <a:spcBef>
                <a:spcPts val="600"/>
              </a:spcBef>
              <a:defRPr sz="850">
                <a:solidFill>
                  <a:srgbClr val="94A3B8"/>
                </a:solidFill>
              </a:defRPr>
            </a:pPr>
            <a:r>
              <a:t>Switch multi-crop profiles (Cotton, Tomato, Wheat). Open Recharts acreage chart and trigger 1-click A4 Printable Farm Report.</a:t>
            </a:r>
          </a:p>
        </p:txBody>
      </p:sp>
      <p:sp>
        <p:nvSpPr>
          <p:cNvPr id="15" name="Rounded Rectangle 14"/>
          <p:cNvSpPr/>
          <p:nvPr/>
        </p:nvSpPr>
        <p:spPr>
          <a:xfrm>
            <a:off x="4297680" y="1737360"/>
            <a:ext cx="1691640" cy="38404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389120" y="1874519"/>
            <a:ext cx="1508760" cy="365760"/>
          </a:xfrm>
          <a:prstGeom prst="roundRect">
            <a:avLst/>
          </a:prstGeom>
          <a:solidFill>
            <a:srgbClr val="062C2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07408" y="1901952"/>
            <a:ext cx="1463040" cy="320040"/>
          </a:xfrm>
          <a:prstGeom prst="rect">
            <a:avLst/>
          </a:prstGeom>
          <a:noFill/>
        </p:spPr>
        <p:txBody>
          <a:bodyPr wrap="none">
            <a:spAutoFit/>
          </a:bodyPr>
          <a:lstStyle/>
          <a:p>
            <a:pPr>
              <a:defRPr sz="950" b="1">
                <a:solidFill>
                  <a:srgbClr val="38BDF8"/>
                </a:solidFill>
              </a:defRPr>
            </a:pPr>
            <a:r>
              <a:t>STEP 03</a:t>
            </a:r>
          </a:p>
        </p:txBody>
      </p:sp>
      <p:sp>
        <p:nvSpPr>
          <p:cNvPr id="18" name="TextBox 17"/>
          <p:cNvSpPr txBox="1"/>
          <p:nvPr/>
        </p:nvSpPr>
        <p:spPr>
          <a:xfrm>
            <a:off x="4389120" y="2331720"/>
            <a:ext cx="1508760" cy="3108960"/>
          </a:xfrm>
          <a:prstGeom prst="rect">
            <a:avLst/>
          </a:prstGeom>
          <a:noFill/>
        </p:spPr>
        <p:txBody>
          <a:bodyPr wrap="square">
            <a:spAutoFit/>
          </a:bodyPr>
          <a:lstStyle/>
          <a:p>
            <a:pPr>
              <a:defRPr sz="1000" b="1">
                <a:solidFill>
                  <a:srgbClr val="FFFFFF"/>
                </a:solidFill>
              </a:defRPr>
            </a:pPr>
            <a:r>
              <a:t>HARVEST SIMULATOR</a:t>
            </a:r>
          </a:p>
          <a:p>
            <a:pPr>
              <a:spcBef>
                <a:spcPts val="200"/>
              </a:spcBef>
              <a:defRPr sz="850" b="1">
                <a:solidFill>
                  <a:srgbClr val="FDE68A"/>
                </a:solidFill>
              </a:defRPr>
            </a:pPr>
            <a:r>
              <a:t>Route: /harvest</a:t>
            </a:r>
          </a:p>
          <a:p>
            <a:pPr>
              <a:spcBef>
                <a:spcPts val="600"/>
              </a:spcBef>
              <a:defRPr sz="850">
                <a:solidFill>
                  <a:srgbClr val="94A3B8"/>
                </a:solidFill>
              </a:defRPr>
            </a:pPr>
            <a:r>
              <a:t>Input 1,500 kg Tomato. Compare Option 1 Local vs Option 3 Regional Vashi APMC with +₹14,000 net take-home advantage.</a:t>
            </a:r>
          </a:p>
        </p:txBody>
      </p:sp>
      <p:sp>
        <p:nvSpPr>
          <p:cNvPr id="19" name="Rounded Rectangle 18"/>
          <p:cNvSpPr/>
          <p:nvPr/>
        </p:nvSpPr>
        <p:spPr>
          <a:xfrm>
            <a:off x="6080759" y="1737360"/>
            <a:ext cx="1691640" cy="38404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72199" y="1874519"/>
            <a:ext cx="1508760" cy="365760"/>
          </a:xfrm>
          <a:prstGeom prst="roundRect">
            <a:avLst/>
          </a:prstGeom>
          <a:solidFill>
            <a:srgbClr val="062C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90488" y="1901952"/>
            <a:ext cx="1463040" cy="320040"/>
          </a:xfrm>
          <a:prstGeom prst="rect">
            <a:avLst/>
          </a:prstGeom>
          <a:noFill/>
        </p:spPr>
        <p:txBody>
          <a:bodyPr wrap="none">
            <a:spAutoFit/>
          </a:bodyPr>
          <a:lstStyle/>
          <a:p>
            <a:pPr>
              <a:defRPr sz="950" b="1">
                <a:solidFill>
                  <a:srgbClr val="C084FC"/>
                </a:solidFill>
              </a:defRPr>
            </a:pPr>
            <a:r>
              <a:t>STEP 04</a:t>
            </a:r>
          </a:p>
        </p:txBody>
      </p:sp>
      <p:sp>
        <p:nvSpPr>
          <p:cNvPr id="22" name="TextBox 21"/>
          <p:cNvSpPr txBox="1"/>
          <p:nvPr/>
        </p:nvSpPr>
        <p:spPr>
          <a:xfrm>
            <a:off x="6172199" y="2331720"/>
            <a:ext cx="1508760" cy="3108960"/>
          </a:xfrm>
          <a:prstGeom prst="rect">
            <a:avLst/>
          </a:prstGeom>
          <a:noFill/>
        </p:spPr>
        <p:txBody>
          <a:bodyPr wrap="square">
            <a:spAutoFit/>
          </a:bodyPr>
          <a:lstStyle/>
          <a:p>
            <a:pPr>
              <a:defRPr sz="1000" b="1">
                <a:solidFill>
                  <a:srgbClr val="FFFFFF"/>
                </a:solidFill>
              </a:defRPr>
            </a:pPr>
            <a:r>
              <a:t>SHARED TRANSPORT</a:t>
            </a:r>
          </a:p>
          <a:p>
            <a:pPr>
              <a:spcBef>
                <a:spcPts val="200"/>
              </a:spcBef>
              <a:defRPr sz="850" b="1">
                <a:solidFill>
                  <a:srgbClr val="FDE68A"/>
                </a:solidFill>
              </a:defRPr>
            </a:pPr>
            <a:r>
              <a:t>Route: /transport</a:t>
            </a:r>
          </a:p>
          <a:p>
            <a:pPr>
              <a:spcBef>
                <a:spcPts val="600"/>
              </a:spcBef>
              <a:defRPr sz="850">
                <a:solidFill>
                  <a:srgbClr val="94A3B8"/>
                </a:solidFill>
              </a:defRPr>
            </a:pPr>
            <a:r>
              <a:t>Book pooled cargo capacity. View NH-160 highway corridor route and open Digital QR Gate Pass verification modal.</a:t>
            </a:r>
          </a:p>
        </p:txBody>
      </p:sp>
      <p:sp>
        <p:nvSpPr>
          <p:cNvPr id="23" name="Rounded Rectangle 22"/>
          <p:cNvSpPr/>
          <p:nvPr/>
        </p:nvSpPr>
        <p:spPr>
          <a:xfrm>
            <a:off x="7863840" y="1737360"/>
            <a:ext cx="1691640" cy="38404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955279" y="1874519"/>
            <a:ext cx="1508760" cy="365760"/>
          </a:xfrm>
          <a:prstGeom prst="roundRect">
            <a:avLst/>
          </a:prstGeom>
          <a:solidFill>
            <a:srgbClr val="062C2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73567" y="1901952"/>
            <a:ext cx="1463040" cy="320040"/>
          </a:xfrm>
          <a:prstGeom prst="rect">
            <a:avLst/>
          </a:prstGeom>
          <a:noFill/>
        </p:spPr>
        <p:txBody>
          <a:bodyPr wrap="none">
            <a:spAutoFit/>
          </a:bodyPr>
          <a:lstStyle/>
          <a:p>
            <a:pPr>
              <a:defRPr sz="950" b="1">
                <a:solidFill>
                  <a:srgbClr val="34D399"/>
                </a:solidFill>
              </a:defRPr>
            </a:pPr>
            <a:r>
              <a:t>STEP 05</a:t>
            </a:r>
          </a:p>
        </p:txBody>
      </p:sp>
      <p:sp>
        <p:nvSpPr>
          <p:cNvPr id="26" name="TextBox 25"/>
          <p:cNvSpPr txBox="1"/>
          <p:nvPr/>
        </p:nvSpPr>
        <p:spPr>
          <a:xfrm>
            <a:off x="7955279" y="2331720"/>
            <a:ext cx="1508760" cy="3108960"/>
          </a:xfrm>
          <a:prstGeom prst="rect">
            <a:avLst/>
          </a:prstGeom>
          <a:noFill/>
        </p:spPr>
        <p:txBody>
          <a:bodyPr wrap="square">
            <a:spAutoFit/>
          </a:bodyPr>
          <a:lstStyle/>
          <a:p>
            <a:pPr>
              <a:defRPr sz="1000" b="1">
                <a:solidFill>
                  <a:srgbClr val="FFFFFF"/>
                </a:solidFill>
              </a:defRPr>
            </a:pPr>
            <a:r>
              <a:t>MITRA VOICE AI</a:t>
            </a:r>
          </a:p>
          <a:p>
            <a:pPr>
              <a:spcBef>
                <a:spcPts val="200"/>
              </a:spcBef>
              <a:defRPr sz="850" b="1">
                <a:solidFill>
                  <a:srgbClr val="FDE68A"/>
                </a:solidFill>
              </a:defRPr>
            </a:pPr>
            <a:r>
              <a:t>Route: /chat</a:t>
            </a:r>
          </a:p>
          <a:p>
            <a:pPr>
              <a:spcBef>
                <a:spcPts val="600"/>
              </a:spcBef>
              <a:defRPr sz="850">
                <a:solidFill>
                  <a:srgbClr val="94A3B8"/>
                </a:solidFill>
              </a:defRPr>
            </a:pPr>
            <a:r>
              <a:t>Click microphone and speak in Hindi: 'टमाटर कब बेचना चाहिए?' Mitra responds via spoken audio synthesis.</a:t>
            </a:r>
          </a:p>
        </p:txBody>
      </p:sp>
      <p:sp>
        <p:nvSpPr>
          <p:cNvPr id="27" name="Rounded Rectangle 26"/>
          <p:cNvSpPr/>
          <p:nvPr/>
        </p:nvSpPr>
        <p:spPr>
          <a:xfrm>
            <a:off x="9646920" y="1737360"/>
            <a:ext cx="1691640" cy="384048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38360" y="1874519"/>
            <a:ext cx="1508760" cy="365760"/>
          </a:xfrm>
          <a:prstGeom prst="roundRect">
            <a:avLst/>
          </a:prstGeom>
          <a:solidFill>
            <a:srgbClr val="062C2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56648" y="1901952"/>
            <a:ext cx="1463040" cy="320040"/>
          </a:xfrm>
          <a:prstGeom prst="rect">
            <a:avLst/>
          </a:prstGeom>
          <a:noFill/>
        </p:spPr>
        <p:txBody>
          <a:bodyPr wrap="none">
            <a:spAutoFit/>
          </a:bodyPr>
          <a:lstStyle/>
          <a:p>
            <a:pPr>
              <a:defRPr sz="950" b="1">
                <a:solidFill>
                  <a:srgbClr val="FFFFFF"/>
                </a:solidFill>
              </a:defRPr>
            </a:pPr>
            <a:r>
              <a:t>STEP 06</a:t>
            </a:r>
          </a:p>
        </p:txBody>
      </p:sp>
      <p:sp>
        <p:nvSpPr>
          <p:cNvPr id="30" name="TextBox 29"/>
          <p:cNvSpPr txBox="1"/>
          <p:nvPr/>
        </p:nvSpPr>
        <p:spPr>
          <a:xfrm>
            <a:off x="9738360" y="2331720"/>
            <a:ext cx="1508760" cy="3108960"/>
          </a:xfrm>
          <a:prstGeom prst="rect">
            <a:avLst/>
          </a:prstGeom>
          <a:noFill/>
        </p:spPr>
        <p:txBody>
          <a:bodyPr wrap="square">
            <a:spAutoFit/>
          </a:bodyPr>
          <a:lstStyle/>
          <a:p>
            <a:pPr>
              <a:defRPr sz="1000" b="1">
                <a:solidFill>
                  <a:srgbClr val="FFFFFF"/>
                </a:solidFill>
              </a:defRPr>
            </a:pPr>
            <a:r>
              <a:t>MANDI &amp; ADMIN</a:t>
            </a:r>
          </a:p>
          <a:p>
            <a:pPr>
              <a:spcBef>
                <a:spcPts val="200"/>
              </a:spcBef>
              <a:defRPr sz="850" b="1">
                <a:solidFill>
                  <a:srgbClr val="FDE68A"/>
                </a:solidFill>
              </a:defRPr>
            </a:pPr>
            <a:r>
              <a:t>Route: /admin</a:t>
            </a:r>
          </a:p>
          <a:p>
            <a:pPr>
              <a:spcBef>
                <a:spcPts val="600"/>
              </a:spcBef>
              <a:defRPr sz="850">
                <a:solidFill>
                  <a:srgbClr val="94A3B8"/>
                </a:solidFill>
              </a:defRPr>
            </a:pPr>
            <a:r>
              <a:t>Log in as Mandi/Admin. Review incoming procurement offer and demonstrate APMC benchmark price update.</a:t>
            </a:r>
          </a:p>
        </p:txBody>
      </p:sp>
      <p:sp>
        <p:nvSpPr>
          <p:cNvPr id="31" name="Rounded Rectangle 30"/>
          <p:cNvSpPr/>
          <p:nvPr/>
        </p:nvSpPr>
        <p:spPr>
          <a:xfrm>
            <a:off x="731520" y="5760720"/>
            <a:ext cx="10698480" cy="731520"/>
          </a:xfrm>
          <a:prstGeom prst="roundRect">
            <a:avLst/>
          </a:prstGeom>
          <a:solidFill>
            <a:srgbClr val="0B1A17"/>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806440"/>
            <a:ext cx="10332720" cy="640080"/>
          </a:xfrm>
          <a:prstGeom prst="rect">
            <a:avLst/>
          </a:prstGeom>
          <a:noFill/>
        </p:spPr>
        <p:txBody>
          <a:bodyPr wrap="square">
            <a:spAutoFit/>
          </a:bodyPr>
          <a:lstStyle/>
          <a:p>
            <a:pPr>
              <a:defRPr sz="1000" b="1">
                <a:solidFill>
                  <a:srgbClr val="F59E0B"/>
                </a:solidFill>
              </a:defRPr>
            </a:pPr>
            <a:r>
              <a:t>VERIFIED LIVE DEMO CREDENTIALS (aidemo-c4b9.onrender.com):</a:t>
            </a:r>
          </a:p>
          <a:p>
            <a:pPr>
              <a:spcBef>
                <a:spcPts val="200"/>
              </a:spcBef>
              <a:defRPr sz="950">
                <a:solidFill>
                  <a:srgbClr val="FFFFFF"/>
                </a:solidFill>
              </a:defRPr>
            </a:pPr>
            <a:r>
              <a:t>• Farmer: demo@harvestmitra.local (Demo@12345)  •  Transporter: transporter@harvestmitra.local (Transporter@12345)</a:t>
            </a:r>
            <a:br/>
            <a:r>
              <a:t>• Mandi Official: mandi@harvestmitra.local (Demo@12345)  •  Admin: admin@harvestmitra.local (Admin@12345)</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PRODUCTION READINESS • STRATEGIC ROADMAP</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Engineering Maturity &amp; Future Horizon</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A production-ready foundation with a clear technical roadmap for nationwide deployment.</a:t>
            </a:r>
          </a:p>
        </p:txBody>
      </p:sp>
      <p:sp>
        <p:nvSpPr>
          <p:cNvPr id="7" name="Rounded Rectangle 6"/>
          <p:cNvSpPr/>
          <p:nvPr/>
        </p:nvSpPr>
        <p:spPr>
          <a:xfrm>
            <a:off x="731520" y="1737360"/>
            <a:ext cx="5120640" cy="45720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920240"/>
            <a:ext cx="4572000" cy="4206240"/>
          </a:xfrm>
          <a:prstGeom prst="rect">
            <a:avLst/>
          </a:prstGeom>
          <a:noFill/>
        </p:spPr>
        <p:txBody>
          <a:bodyPr wrap="square">
            <a:spAutoFit/>
          </a:bodyPr>
          <a:lstStyle/>
          <a:p>
            <a:pPr>
              <a:defRPr sz="1200" b="1">
                <a:solidFill>
                  <a:srgbClr val="F59E0B"/>
                </a:solidFill>
              </a:defRPr>
            </a:pPr>
            <a:r>
              <a:t>VERIFIED ENGINEERING METRICS</a:t>
            </a:r>
          </a:p>
          <a:p>
            <a:pPr>
              <a:spcBef>
                <a:spcPts val="800"/>
              </a:spcBef>
              <a:defRPr sz="1100" b="1">
                <a:solidFill>
                  <a:srgbClr val="34D399"/>
                </a:solidFill>
              </a:defRPr>
            </a:pPr>
            <a:r>
              <a:t>✔  40 Merged Pull Requests</a:t>
            </a:r>
          </a:p>
          <a:p>
            <a:pPr>
              <a:defRPr sz="950">
                <a:solidFill>
                  <a:srgbClr val="94A3B8"/>
                </a:solidFill>
              </a:defRPr>
            </a:pPr>
            <a:r>
              <a:t>0 Open Issues across all team feature sprints</a:t>
            </a:r>
          </a:p>
          <a:p>
            <a:pPr>
              <a:spcBef>
                <a:spcPts val="800"/>
              </a:spcBef>
              <a:defRPr sz="1100" b="1">
                <a:solidFill>
                  <a:srgbClr val="34D399"/>
                </a:solidFill>
              </a:defRPr>
            </a:pPr>
            <a:r>
              <a:t>✔  33/33 Automated Test Suites</a:t>
            </a:r>
          </a:p>
          <a:p>
            <a:pPr>
              <a:defRPr sz="950">
                <a:solidFill>
                  <a:srgbClr val="94A3B8"/>
                </a:solidFill>
              </a:defRPr>
            </a:pPr>
            <a:r>
              <a:t>20 Backend + 13 Frontend test suites passing at 100%</a:t>
            </a:r>
          </a:p>
          <a:p>
            <a:pPr>
              <a:spcBef>
                <a:spcPts val="800"/>
              </a:spcBef>
              <a:defRPr sz="1100" b="1">
                <a:solidFill>
                  <a:srgbClr val="34D399"/>
                </a:solidFill>
              </a:defRPr>
            </a:pPr>
            <a:r>
              <a:t>✔  106 APMC Mandis Monitored</a:t>
            </a:r>
          </a:p>
          <a:p>
            <a:pPr>
              <a:defRPr sz="950">
                <a:solidFill>
                  <a:srgbClr val="94A3B8"/>
                </a:solidFill>
              </a:defRPr>
            </a:pPr>
            <a:r>
              <a:t>Continuous moving average price trend detection across Maharashtra</a:t>
            </a:r>
          </a:p>
          <a:p>
            <a:pPr>
              <a:spcBef>
                <a:spcPts val="800"/>
              </a:spcBef>
              <a:defRPr sz="1100" b="1">
                <a:solidFill>
                  <a:srgbClr val="34D399"/>
                </a:solidFill>
              </a:defRPr>
            </a:pPr>
            <a:r>
              <a:t>✔  Sub-15ms Offline Voice AI</a:t>
            </a:r>
          </a:p>
          <a:p>
            <a:pPr>
              <a:defRPr sz="950">
                <a:solidFill>
                  <a:srgbClr val="94A3B8"/>
                </a:solidFill>
              </a:defRPr>
            </a:pPr>
            <a:r>
              <a:t>Zero-downtime deterministic fallback engine without cloud dependency</a:t>
            </a:r>
          </a:p>
          <a:p>
            <a:pPr>
              <a:spcBef>
                <a:spcPts val="800"/>
              </a:spcBef>
              <a:defRPr sz="1100" b="1">
                <a:solidFill>
                  <a:srgbClr val="34D399"/>
                </a:solidFill>
              </a:defRPr>
            </a:pPr>
            <a:r>
              <a:t>✔  100% Multi-User Isolation</a:t>
            </a:r>
          </a:p>
          <a:p>
            <a:pPr>
              <a:defRPr sz="950">
                <a:solidFill>
                  <a:srgbClr val="94A3B8"/>
                </a:solidFill>
              </a:defRPr>
            </a:pPr>
            <a:r>
              <a:t>Strict data privacy between farmers, transporters, and mandi officials</a:t>
            </a:r>
          </a:p>
        </p:txBody>
      </p:sp>
      <p:sp>
        <p:nvSpPr>
          <p:cNvPr id="9" name="Rounded Rectangle 8"/>
          <p:cNvSpPr/>
          <p:nvPr/>
        </p:nvSpPr>
        <p:spPr>
          <a:xfrm>
            <a:off x="6126480" y="1737360"/>
            <a:ext cx="5303520" cy="457200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920240"/>
            <a:ext cx="4754880" cy="4206240"/>
          </a:xfrm>
          <a:prstGeom prst="rect">
            <a:avLst/>
          </a:prstGeom>
          <a:noFill/>
        </p:spPr>
        <p:txBody>
          <a:bodyPr wrap="square">
            <a:spAutoFit/>
          </a:bodyPr>
          <a:lstStyle/>
          <a:p>
            <a:pPr>
              <a:defRPr sz="1200" b="1">
                <a:solidFill>
                  <a:srgbClr val="38BDF8"/>
                </a:solidFill>
              </a:defRPr>
            </a:pPr>
            <a:r>
              <a:t>STRATEGIC 4-PHASE EXPANSION ROADMAP</a:t>
            </a:r>
          </a:p>
          <a:p>
            <a:pPr>
              <a:spcBef>
                <a:spcPts val="800"/>
              </a:spcBef>
              <a:defRPr sz="1100" b="1">
                <a:solidFill>
                  <a:srgbClr val="10B981"/>
                </a:solidFill>
              </a:defRPr>
            </a:pPr>
            <a:r>
              <a:t>Phase 1: Agristack API Pilot (Q1 2027)</a:t>
            </a:r>
          </a:p>
          <a:p>
            <a:pPr>
              <a:defRPr sz="950">
                <a:solidFill>
                  <a:srgbClr val="FFFFFF"/>
                </a:solidFill>
              </a:defRPr>
            </a:pPr>
            <a:r>
              <a:t>Direct integration with National Digital Agriculture Mission API for live 7/12 land records and automated scheme eligibility pre-approvals.</a:t>
            </a:r>
          </a:p>
          <a:p>
            <a:pPr>
              <a:spcBef>
                <a:spcPts val="800"/>
              </a:spcBef>
              <a:defRPr sz="1100" b="1">
                <a:solidFill>
                  <a:srgbClr val="F59E0B"/>
                </a:solidFill>
              </a:defRPr>
            </a:pPr>
            <a:r>
              <a:t>Phase 2: IoT Cold-Chain Telemetry (Q2 2027)</a:t>
            </a:r>
          </a:p>
          <a:p>
            <a:pPr>
              <a:defRPr sz="950">
                <a:solidFill>
                  <a:srgbClr val="FFFFFF"/>
                </a:solidFill>
              </a:defRPr>
            </a:pPr>
            <a:r>
              <a:t>ESP32 temperature and humidity sensor integration in refrigerated trucks for continuous perishability monitoring during highway transit.</a:t>
            </a:r>
          </a:p>
          <a:p>
            <a:pPr>
              <a:spcBef>
                <a:spcPts val="800"/>
              </a:spcBef>
              <a:defRPr sz="1100" b="1">
                <a:solidFill>
                  <a:srgbClr val="38BDF8"/>
                </a:solidFill>
              </a:defRPr>
            </a:pPr>
            <a:r>
              <a:t>Phase 3: Progressive Web App with SQLite (Q3 2027)</a:t>
            </a:r>
          </a:p>
          <a:p>
            <a:pPr>
              <a:defRPr sz="950">
                <a:solidFill>
                  <a:srgbClr val="FFFFFF"/>
                </a:solidFill>
              </a:defRPr>
            </a:pPr>
            <a:r>
              <a:t>Full offline-first PWA caching allowing complete price discovery and trade record logging in zero-connectivity tribal farming belts.</a:t>
            </a:r>
          </a:p>
          <a:p>
            <a:pPr>
              <a:spcBef>
                <a:spcPts val="800"/>
              </a:spcBef>
              <a:defRPr sz="1100" b="1">
                <a:solidFill>
                  <a:srgbClr val="C084FC"/>
                </a:solidFill>
              </a:defRPr>
            </a:pPr>
            <a:r>
              <a:t>Phase 4: District Cooperative Credit Bank Financing (Q4 2027)</a:t>
            </a:r>
          </a:p>
          <a:p>
            <a:pPr>
              <a:defRPr sz="950">
                <a:solidFill>
                  <a:srgbClr val="FFFFFF"/>
                </a:solidFill>
              </a:defRPr>
            </a:pPr>
            <a:r>
              <a:t>Instant Kisan Credit Card (KCC) loan approvals and freight escrow financing in partnership with Maharashtra District Cooperative Banks.</a:t>
            </a: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4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84048"/>
            <a:ext cx="10515600" cy="320040"/>
          </a:xfrm>
          <a:prstGeom prst="rect">
            <a:avLst/>
          </a:prstGeom>
          <a:noFill/>
        </p:spPr>
        <p:txBody>
          <a:bodyPr wrap="square" lIns="0" tIns="0" rIns="0" bIns="0">
            <a:spAutoFit/>
          </a:bodyPr>
          <a:lstStyle/>
          <a:p>
            <a:pPr>
              <a:defRPr sz="1050" b="1">
                <a:solidFill>
                  <a:srgbClr val="F59E0B"/>
                </a:solidFill>
              </a:defRPr>
            </a:pPr>
            <a:r>
              <a:t>NATIONAL AGRI-TECH HACKATHON 2026 • CLOSING SHOWCASE</a:t>
            </a:r>
          </a:p>
        </p:txBody>
      </p:sp>
      <p:sp>
        <p:nvSpPr>
          <p:cNvPr id="5" name="TextBox 4"/>
          <p:cNvSpPr txBox="1"/>
          <p:nvPr/>
        </p:nvSpPr>
        <p:spPr>
          <a:xfrm>
            <a:off x="731520" y="658368"/>
            <a:ext cx="10515600" cy="640080"/>
          </a:xfrm>
          <a:prstGeom prst="rect">
            <a:avLst/>
          </a:prstGeom>
          <a:noFill/>
        </p:spPr>
        <p:txBody>
          <a:bodyPr wrap="square" lIns="0" tIns="0" rIns="0" bIns="0">
            <a:spAutoFit/>
          </a:bodyPr>
          <a:lstStyle/>
          <a:p>
            <a:pPr>
              <a:defRPr sz="2600" b="1">
                <a:solidFill>
                  <a:srgbClr val="FFFFFF"/>
                </a:solidFill>
              </a:defRPr>
            </a:pPr>
            <a:r>
              <a:t>HarvestMitra AI: Transforming Distress Selling into Factual Prosperity</a:t>
            </a:r>
          </a:p>
        </p:txBody>
      </p:sp>
      <p:sp>
        <p:nvSpPr>
          <p:cNvPr id="6" name="TextBox 5"/>
          <p:cNvSpPr txBox="1"/>
          <p:nvPr/>
        </p:nvSpPr>
        <p:spPr>
          <a:xfrm>
            <a:off x="731520" y="1261872"/>
            <a:ext cx="10515600" cy="411480"/>
          </a:xfrm>
          <a:prstGeom prst="rect">
            <a:avLst/>
          </a:prstGeom>
          <a:noFill/>
        </p:spPr>
        <p:txBody>
          <a:bodyPr wrap="square" lIns="0" tIns="0" rIns="0" bIns="0">
            <a:spAutoFit/>
          </a:bodyPr>
          <a:lstStyle/>
          <a:p>
            <a:pPr>
              <a:defRPr sz="1300">
                <a:solidFill>
                  <a:srgbClr val="94A3B8"/>
                </a:solidFill>
              </a:defRPr>
            </a:pPr>
            <a:r>
              <a:t>Built with pride for Bharat's 140 Million smallholder farmers.</a:t>
            </a:r>
          </a:p>
        </p:txBody>
      </p:sp>
      <p:sp>
        <p:nvSpPr>
          <p:cNvPr id="7" name="Rounded Rectangle 6"/>
          <p:cNvSpPr/>
          <p:nvPr/>
        </p:nvSpPr>
        <p:spPr>
          <a:xfrm>
            <a:off x="1645920" y="1737360"/>
            <a:ext cx="8869680" cy="4480560"/>
          </a:xfrm>
          <a:prstGeom prst="roundRect">
            <a:avLst/>
          </a:prstGeom>
          <a:solidFill>
            <a:srgbClr val="0E221E"/>
          </a:solidFill>
          <a:ln w="12700">
            <a:solidFill>
              <a:srgbClr val="1A4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0" y="1920240"/>
            <a:ext cx="8138160" cy="4114800"/>
          </a:xfrm>
          <a:prstGeom prst="rect">
            <a:avLst/>
          </a:prstGeom>
          <a:noFill/>
        </p:spPr>
        <p:txBody>
          <a:bodyPr wrap="square">
            <a:spAutoFit/>
          </a:bodyPr>
          <a:lstStyle/>
          <a:p>
            <a:pPr>
              <a:defRPr sz="1300" b="1">
                <a:solidFill>
                  <a:srgbClr val="F59E0B"/>
                </a:solidFill>
              </a:defRPr>
            </a:pPr>
            <a:r>
              <a:t>THE HARVESTMITRA AI PROMISE</a:t>
            </a:r>
          </a:p>
          <a:p>
            <a:pPr>
              <a:spcBef>
                <a:spcPts val="1000"/>
              </a:spcBef>
              <a:defRPr sz="1400">
                <a:solidFill>
                  <a:srgbClr val="FFFFFF"/>
                </a:solidFill>
              </a:defRPr>
            </a:pPr>
            <a:r>
              <a:t>"By unifying deterministic price arbitrage, shared highway logistics, and multilingual voice accessibility, HarvestMitra AI returns an estimated 15% to 30% additional net margin directly to the farmer's pocket—ensuring that those who feed our nation never have to sell in distress."</a:t>
            </a:r>
          </a:p>
          <a:p>
            <a:pPr>
              <a:spcBef>
                <a:spcPts val="1600"/>
              </a:spcBef>
              <a:defRPr sz="1100" b="1">
                <a:solidFill>
                  <a:srgbClr val="34D399"/>
                </a:solidFill>
              </a:defRPr>
            </a:pPr>
            <a:r>
              <a:t>CORE ARCHITECTS &amp; PRESENTERS:</a:t>
            </a:r>
          </a:p>
          <a:p>
            <a:pPr>
              <a:spcBef>
                <a:spcPts val="300"/>
              </a:spcBef>
              <a:defRPr sz="1000">
                <a:solidFill>
                  <a:srgbClr val="94A3B8"/>
                </a:solidFill>
              </a:defRPr>
            </a:pPr>
            <a:r>
              <a:t>• Mihir Jadav  —  Team Leader, System Architecture, Backend APIs, Database, Mandi &amp; Admin</a:t>
            </a:r>
          </a:p>
          <a:p>
            <a:pPr>
              <a:spcBef>
                <a:spcPts val="300"/>
              </a:spcBef>
              <a:defRPr sz="1000">
                <a:solidFill>
                  <a:srgbClr val="94A3B8"/>
                </a:solidFill>
              </a:defRPr>
            </a:pPr>
            <a:r>
              <a:t>• Sayali Kulkarni  —  Frontend UI/UX Architecture, Farmer Accessibility &amp; Universal Guest Mode</a:t>
            </a:r>
          </a:p>
          <a:p>
            <a:pPr>
              <a:spcBef>
                <a:spcPts val="300"/>
              </a:spcBef>
              <a:defRPr sz="1000">
                <a:solidFill>
                  <a:srgbClr val="94A3B8"/>
                </a:solidFill>
              </a:defRPr>
            </a:pPr>
            <a:r>
              <a:t>• Prashant Warule  —  Core Harvest Decision Simulator, APMC Database &amp; Shared Highway Logistics</a:t>
            </a:r>
          </a:p>
          <a:p>
            <a:pPr>
              <a:spcBef>
                <a:spcPts val="300"/>
              </a:spcBef>
              <a:defRPr sz="1000">
                <a:solidFill>
                  <a:srgbClr val="94A3B8"/>
                </a:solidFill>
              </a:defRPr>
            </a:pPr>
            <a:r>
              <a:t>• Varun Patil  —  Mitra Multilingual Voice AI, 14-Day Price Forecast &amp; Weather Telemetry</a:t>
            </a:r>
          </a:p>
          <a:p>
            <a:pPr>
              <a:spcBef>
                <a:spcPts val="1400"/>
              </a:spcBef>
              <a:defRPr sz="1000" b="1">
                <a:solidFill>
                  <a:srgbClr val="FDE68A"/>
                </a:solidFill>
              </a:defRPr>
            </a:pPr>
            <a:r>
              <a:t>GitHub: github.com/230493131013mihir/aidemo  •  Live Deployment: aidemo-c4b9.onrender.com</a:t>
            </a:r>
          </a:p>
          <a:p>
            <a:pPr>
              <a:spcBef>
                <a:spcPts val="800"/>
              </a:spcBef>
              <a:defRPr sz="1200" b="1">
                <a:solidFill>
                  <a:srgbClr val="34D399"/>
                </a:solidFill>
              </a:defRPr>
            </a:pPr>
            <a:r>
              <a:t>We thank the esteemed jury for their time. Respected judges, the floor is open for Q&amp;A.</a:t>
            </a:r>
          </a:p>
        </p:txBody>
      </p:sp>
    </p:spTree>
  </p:cSld>
  <p:clrMapOvr>
    <a:masterClrMapping/>
  </p:clrMapOvr>
  <mc:AlternateContent xmlns:mc="http://schemas.openxmlformats.org/markup-compatibility/2006">
    <mc:Choice xmlns:p14="http://schemas.microsoft.com/office/powerpoint/2010/main" Requires="p14">
      <p:transition spd="med" p14:dur="600">
        <p:fade thruBlk="1"/>
      </p:transition>
    </mc:Choice>
    <mc:Fallback>
      <p:transition spd="med">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42" presetClass="entr" presetSubtype="0" fill="hold" grpId="0" nodeType="withEffect">
                                  <p:stCondLst>
                                    <p:cond delay="1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2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42"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ppt_x</p:attrName>
                                        </p:attrNameLst>
                                      </p:cBhvr>
                                      <p:tavLst>
                                        <p:tav tm="0">
                                          <p:val>
                                            <p:strVal val="#ppt_x"/>
                                          </p:val>
                                        </p:tav>
                                        <p:tav tm="100000">
                                          <p:val>
                                            <p:strVal val="#ppt_x"/>
                                          </p:val>
                                        </p:tav>
                                      </p:tavLst>
                                    </p:anim>
                                    <p:anim calcmode="lin" valueType="num">
                                      <p:cBhvr>
                                        <p:cTn id="25" dur="4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5205</Words>
  <Application>Microsoft Office PowerPoint</Application>
  <PresentationFormat>Widescreen</PresentationFormat>
  <Paragraphs>313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mihir jadav</cp:lastModifiedBy>
  <cp:revision>2</cp:revision>
  <dcterms:created xsi:type="dcterms:W3CDTF">2013-01-27T09:14:16Z</dcterms:created>
  <dcterms:modified xsi:type="dcterms:W3CDTF">2026-10-26T08:33:37Z</dcterms:modified>
  <cp:category/>
</cp:coreProperties>
</file>